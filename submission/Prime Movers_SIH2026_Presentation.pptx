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Arial Bold Italics" panose="020B0604020202020204" charset="0"/>
      <p:regular r:id="rId12"/>
    </p:embeddedFont>
    <p:embeddedFont>
      <p:font typeface="Arial Italics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Bold Italics" panose="020B0604020202020204" charset="0"/>
      <p:regular r:id="rId16"/>
    </p:embeddedFont>
    <p:embeddedFont>
      <p:font typeface="Calibri (MS) Italics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st.gov/publications/artificial-intelligence-risk-management-framework-generative-artificial-intelligence?utm_source=chatgpt.com" TargetMode="External"/><Relationship Id="rId3" Type="http://schemas.openxmlformats.org/officeDocument/2006/relationships/image" Target="../media/image30.png"/><Relationship Id="rId7" Type="http://schemas.openxmlformats.org/officeDocument/2006/relationships/hyperlink" Target="https://www.gao.gov/products/gao-25-107653?utm_source=chatgpt.com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mmunications.gov.uk/publication/assist-the-ai-tool-built-for-government-communicators/?utm_source=chatgpt.com" TargetMode="External"/><Relationship Id="rId5" Type="http://schemas.openxmlformats.org/officeDocument/2006/relationships/hyperlink" Target="https://www.mckinsey.com/capabilities/tech-and-ai/our-insights/the-economic-potential-of-generative-ai-the-next-productivity-frontier?utm_source=chatgpt.com" TargetMode="External"/><Relationship Id="rId10" Type="http://schemas.openxmlformats.org/officeDocument/2006/relationships/hyperlink" Target="https://link.springer.com/article/10.1007/s10462-025-11219-5?utm_source=chatgpt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link.springer.com/article/10.1007/s10462-025-11338-z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0248" y="3216602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256406" y="19650"/>
            <a:ext cx="12457519" cy="1277282"/>
            <a:chOff x="0" y="0"/>
            <a:chExt cx="16610025" cy="17030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10028" cy="1703039"/>
            </a:xfrm>
            <a:custGeom>
              <a:avLst/>
              <a:gdLst/>
              <a:ahLst/>
              <a:cxnLst/>
              <a:rect l="l" t="t" r="r" b="b"/>
              <a:pathLst>
                <a:path w="16610028" h="1703039">
                  <a:moveTo>
                    <a:pt x="0" y="0"/>
                  </a:moveTo>
                  <a:lnTo>
                    <a:pt x="16610028" y="0"/>
                  </a:lnTo>
                  <a:lnTo>
                    <a:pt x="16610028" y="1703039"/>
                  </a:lnTo>
                  <a:lnTo>
                    <a:pt x="0" y="17030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0040" b="-14004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6610025" cy="1722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84588" y="0"/>
            <a:ext cx="3603412" cy="1684306"/>
            <a:chOff x="0" y="0"/>
            <a:chExt cx="4804550" cy="22457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30" b="-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9511122"/>
            <a:ext cx="18288000" cy="795528"/>
            <a:chOff x="0" y="0"/>
            <a:chExt cx="24384000" cy="10607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60704"/>
            </a:xfrm>
            <a:custGeom>
              <a:avLst/>
              <a:gdLst/>
              <a:ahLst/>
              <a:cxnLst/>
              <a:rect l="l" t="t" r="r" b="b"/>
              <a:pathLst>
                <a:path w="24384000" h="1060704">
                  <a:moveTo>
                    <a:pt x="0" y="0"/>
                  </a:moveTo>
                  <a:lnTo>
                    <a:pt x="24384000" y="0"/>
                  </a:lnTo>
                  <a:lnTo>
                    <a:pt x="24384000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13" name="Freeform 13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1170108" y="1018642"/>
            <a:ext cx="145409" cy="8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"/>
              </a:lnSpc>
            </a:pPr>
            <a:endParaRPr/>
          </a:p>
          <a:p>
            <a:pPr algn="ctr">
              <a:lnSpc>
                <a:spcPts val="179"/>
              </a:lnSpc>
            </a:pPr>
            <a:r>
              <a:rPr lang="en-US" sz="1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8039" y="1935629"/>
            <a:ext cx="8703945" cy="597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9"/>
              </a:lnSpc>
            </a:pPr>
            <a:endParaRPr/>
          </a:p>
          <a:p>
            <a:pPr marL="741997" lvl="1" indent="-370998" algn="l">
              <a:lnSpc>
                <a:spcPts val="7379"/>
              </a:lnSpc>
              <a:buFont typeface="Arial"/>
              <a:buChar char="•"/>
            </a:pPr>
            <a:r>
              <a:rPr lang="en-US" sz="4099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26154</a:t>
            </a:r>
          </a:p>
          <a:p>
            <a:pPr marL="741997" lvl="1" indent="-370998" algn="l">
              <a:lnSpc>
                <a:spcPts val="4919"/>
              </a:lnSpc>
              <a:buFont typeface="Arial"/>
              <a:buChar char="•"/>
            </a:pPr>
            <a:r>
              <a:rPr lang="en-US" sz="4099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Title- </a:t>
            </a:r>
            <a:r>
              <a:rPr lang="en-US" sz="4099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Gen AI Platform for Automated Content Transformation</a:t>
            </a:r>
          </a:p>
          <a:p>
            <a:pPr marL="741997" lvl="1" indent="-370998" algn="l">
              <a:lnSpc>
                <a:spcPts val="4919"/>
              </a:lnSpc>
              <a:buFont typeface="Arial"/>
              <a:buChar char="•"/>
            </a:pPr>
            <a:r>
              <a:rPr lang="en-US" sz="4099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Theme- </a:t>
            </a:r>
            <a:r>
              <a:rPr lang="en-US" sz="4099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Blockchain &amp; Cybersecurity</a:t>
            </a:r>
          </a:p>
          <a:p>
            <a:pPr marL="741997" lvl="1" indent="-370998" algn="l">
              <a:lnSpc>
                <a:spcPts val="4919"/>
              </a:lnSpc>
              <a:buFont typeface="Arial"/>
              <a:buChar char="•"/>
            </a:pPr>
            <a:r>
              <a:rPr lang="en-US" sz="4099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4099" i="1">
                <a:solidFill>
                  <a:srgbClr val="1F497D"/>
                </a:solidFill>
                <a:latin typeface="Arial Italics"/>
                <a:ea typeface="Arial Italics"/>
                <a:cs typeface="Arial Italics"/>
                <a:sym typeface="Arial Italics"/>
              </a:rPr>
              <a:t>Software</a:t>
            </a:r>
          </a:p>
          <a:p>
            <a:pPr marL="741997" lvl="1" indent="-370998" algn="l">
              <a:lnSpc>
                <a:spcPts val="4919"/>
              </a:lnSpc>
              <a:buFont typeface="Arial"/>
              <a:buChar char="•"/>
            </a:pPr>
            <a:r>
              <a:rPr lang="en-US" sz="4099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marL="741997" lvl="1" indent="-370998" algn="l">
              <a:lnSpc>
                <a:spcPts val="4919"/>
              </a:lnSpc>
              <a:buFont typeface="Arial"/>
              <a:buChar char="•"/>
            </a:pPr>
            <a:r>
              <a:rPr lang="en-US" sz="4099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Name- </a:t>
            </a:r>
            <a:r>
              <a:rPr lang="en-US" sz="4099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Prime movers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995983" y="-40910"/>
            <a:ext cx="13244017" cy="910640"/>
            <a:chOff x="0" y="0"/>
            <a:chExt cx="17658690" cy="12141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658683" cy="1214189"/>
            </a:xfrm>
            <a:custGeom>
              <a:avLst/>
              <a:gdLst/>
              <a:ahLst/>
              <a:cxnLst/>
              <a:rect l="l" t="t" r="r" b="b"/>
              <a:pathLst>
                <a:path w="17658683" h="1214189">
                  <a:moveTo>
                    <a:pt x="0" y="0"/>
                  </a:moveTo>
                  <a:lnTo>
                    <a:pt x="17658683" y="0"/>
                  </a:lnTo>
                  <a:lnTo>
                    <a:pt x="17658683" y="1214189"/>
                  </a:lnTo>
                  <a:lnTo>
                    <a:pt x="0" y="1214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364" r="72699" b="-2736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658690" cy="1242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79"/>
                </a:lnSpc>
              </a:pPr>
              <a:r>
                <a:rPr lang="en-US" sz="3899" b="1" u="sng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Gen AI Platform for Automated Content Transformation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0" b="-730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6535693" y="1871710"/>
            <a:ext cx="11958736" cy="5711336"/>
          </a:xfrm>
          <a:custGeom>
            <a:avLst/>
            <a:gdLst/>
            <a:ahLst/>
            <a:cxnLst/>
            <a:rect l="l" t="t" r="r" b="b"/>
            <a:pathLst>
              <a:path w="11958736" h="5711336">
                <a:moveTo>
                  <a:pt x="0" y="0"/>
                </a:moveTo>
                <a:lnTo>
                  <a:pt x="11958736" y="0"/>
                </a:lnTo>
                <a:lnTo>
                  <a:pt x="11958736" y="5711336"/>
                </a:lnTo>
                <a:lnTo>
                  <a:pt x="0" y="571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8" t="-15206" r="-528" b="-289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0096" y="842760"/>
            <a:ext cx="6455597" cy="348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 i="1" u="sng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Problem Overview</a:t>
            </a:r>
          </a:p>
          <a:p>
            <a:pPr marL="431802" lvl="1" indent="-215901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Multiple Content Formats → Reports, news, advisories, research</a:t>
            </a:r>
          </a:p>
          <a:p>
            <a:pPr marL="431802" lvl="1" indent="-215901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Manual Processing → Time-consuming &amp; resource-intensive</a:t>
            </a:r>
          </a:p>
          <a:p>
            <a:pPr marL="431802" lvl="1" indent="-215901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Multiple Outputs → One source needs many formats</a:t>
            </a:r>
          </a:p>
          <a:p>
            <a:pPr marL="431802" lvl="1" indent="-215901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Expertise Required → Content + domain knowledge</a:t>
            </a:r>
          </a:p>
          <a:p>
            <a:pPr marL="431802" lvl="1" indent="-215901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No Unified Platform → Lack of configurable transformation</a:t>
            </a:r>
          </a:p>
          <a:p>
            <a:pPr algn="l">
              <a:lnSpc>
                <a:spcPts val="2640"/>
              </a:lnSpc>
            </a:pPr>
            <a:r>
              <a:rPr lang="en-US" sz="2200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Core Problem:One Source → Multiple Deliverables → Too Much Manual Effort</a:t>
            </a:r>
          </a:p>
        </p:txBody>
      </p:sp>
      <p:sp>
        <p:nvSpPr>
          <p:cNvPr id="17" name="AutoShape 17"/>
          <p:cNvSpPr/>
          <p:nvPr/>
        </p:nvSpPr>
        <p:spPr>
          <a:xfrm flipH="1" flipV="1">
            <a:off x="-35014" y="4325273"/>
            <a:ext cx="6570706" cy="3637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80096" y="4341209"/>
            <a:ext cx="6455597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 i="1" u="sng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GenAI Transformation Platform – Solution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Multi-Format Input → PDF, Text, Image, Video &amp; Prompts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AI Content Understanding → Extracts context, intent &amp; key information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One-Click Transformation → Select one or multiple output formats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Customizable Outputs → Audience, tone, language &amp; detail level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AI Video Generation → Script → Scenes → Video → Subtitles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Multi-Platform Content → LinkedIn, X, Advisory, Infographic, Summary &amp; PPT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One Source → Many Deliverables → Consistent content across formats</a:t>
            </a:r>
          </a:p>
          <a:p>
            <a:pPr marL="431804" lvl="1" indent="-215902" algn="l">
              <a:lnSpc>
                <a:spcPts val="2400"/>
              </a:lnSpc>
              <a:buFont typeface="Arial"/>
              <a:buChar char="•"/>
            </a:pPr>
            <a:r>
              <a:rPr lang="en-US" sz="2000" i="1">
                <a:solidFill>
                  <a:srgbClr val="1F49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Unified Dashboard → Generate, preview, edit &amp; export from one place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i="1">
              <a:solidFill>
                <a:srgbClr val="1F497D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19" name="AutoShape 19"/>
          <p:cNvSpPr/>
          <p:nvPr/>
        </p:nvSpPr>
        <p:spPr>
          <a:xfrm flipV="1">
            <a:off x="6535693" y="711535"/>
            <a:ext cx="0" cy="8828575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8" name="Freeform 8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30" b="-730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353979" y="1383786"/>
            <a:ext cx="8314681" cy="3776196"/>
          </a:xfrm>
          <a:custGeom>
            <a:avLst/>
            <a:gdLst/>
            <a:ahLst/>
            <a:cxnLst/>
            <a:rect l="l" t="t" r="r" b="b"/>
            <a:pathLst>
              <a:path w="8314681" h="3776196">
                <a:moveTo>
                  <a:pt x="0" y="0"/>
                </a:moveTo>
                <a:lnTo>
                  <a:pt x="8314681" y="0"/>
                </a:lnTo>
                <a:lnTo>
                  <a:pt x="8314681" y="3776196"/>
                </a:lnTo>
                <a:lnTo>
                  <a:pt x="0" y="377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9605881" y="1383786"/>
            <a:ext cx="8340829" cy="3776196"/>
          </a:xfrm>
          <a:custGeom>
            <a:avLst/>
            <a:gdLst/>
            <a:ahLst/>
            <a:cxnLst/>
            <a:rect l="l" t="t" r="r" b="b"/>
            <a:pathLst>
              <a:path w="8340829" h="3776196">
                <a:moveTo>
                  <a:pt x="0" y="0"/>
                </a:moveTo>
                <a:lnTo>
                  <a:pt x="8340829" y="0"/>
                </a:lnTo>
                <a:lnTo>
                  <a:pt x="8340829" y="3776196"/>
                </a:lnTo>
                <a:lnTo>
                  <a:pt x="0" y="3776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48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4285004" y="5211660"/>
            <a:ext cx="8821396" cy="4046640"/>
          </a:xfrm>
          <a:custGeom>
            <a:avLst/>
            <a:gdLst/>
            <a:ahLst/>
            <a:cxnLst/>
            <a:rect l="l" t="t" r="r" b="b"/>
            <a:pathLst>
              <a:path w="8821396" h="4046640">
                <a:moveTo>
                  <a:pt x="0" y="0"/>
                </a:moveTo>
                <a:lnTo>
                  <a:pt x="8821396" y="0"/>
                </a:lnTo>
                <a:lnTo>
                  <a:pt x="8821396" y="4046640"/>
                </a:lnTo>
                <a:lnTo>
                  <a:pt x="0" y="4046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00124" y="233165"/>
            <a:ext cx="1063573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i="1" u="sng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Core USP → “Create once. Transform everywhere.”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899574" y="0"/>
            <a:ext cx="8488842" cy="792642"/>
            <a:chOff x="0" y="0"/>
            <a:chExt cx="11318456" cy="10568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18450" cy="1056852"/>
            </a:xfrm>
            <a:custGeom>
              <a:avLst/>
              <a:gdLst/>
              <a:ahLst/>
              <a:cxnLst/>
              <a:rect l="l" t="t" r="r" b="b"/>
              <a:pathLst>
                <a:path w="11318450" h="1056852">
                  <a:moveTo>
                    <a:pt x="0" y="0"/>
                  </a:moveTo>
                  <a:lnTo>
                    <a:pt x="11318450" y="0"/>
                  </a:lnTo>
                  <a:lnTo>
                    <a:pt x="11318450" y="1056852"/>
                  </a:lnTo>
                  <a:lnTo>
                    <a:pt x="0" y="10568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8676" b="-15867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1318456" cy="1085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92344" y="1383786"/>
            <a:ext cx="2792145" cy="517664"/>
            <a:chOff x="0" y="0"/>
            <a:chExt cx="12371800" cy="22937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71801" cy="2293621"/>
            </a:xfrm>
            <a:custGeom>
              <a:avLst/>
              <a:gdLst/>
              <a:ahLst/>
              <a:cxnLst/>
              <a:rect l="l" t="t" r="r" b="b"/>
              <a:pathLst>
                <a:path w="12371801" h="2293621">
                  <a:moveTo>
                    <a:pt x="0" y="0"/>
                  </a:moveTo>
                  <a:lnTo>
                    <a:pt x="12371801" y="0"/>
                  </a:lnTo>
                  <a:lnTo>
                    <a:pt x="12371801" y="2293621"/>
                  </a:lnTo>
                  <a:lnTo>
                    <a:pt x="0" y="2293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1" r="-171" b="-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211726" y="113824"/>
            <a:ext cx="722652" cy="722652"/>
            <a:chOff x="0" y="0"/>
            <a:chExt cx="963536" cy="9635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3549" cy="963549"/>
            </a:xfrm>
            <a:custGeom>
              <a:avLst/>
              <a:gdLst/>
              <a:ahLst/>
              <a:cxnLst/>
              <a:rect l="l" t="t" r="r" b="b"/>
              <a:pathLst>
                <a:path w="963549" h="963549">
                  <a:moveTo>
                    <a:pt x="0" y="0"/>
                  </a:moveTo>
                  <a:lnTo>
                    <a:pt x="963549" y="0"/>
                  </a:lnTo>
                  <a:lnTo>
                    <a:pt x="963549" y="963549"/>
                  </a:lnTo>
                  <a:lnTo>
                    <a:pt x="0" y="963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30" b="-730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2045417" y="3634116"/>
            <a:ext cx="564552" cy="564552"/>
          </a:xfrm>
          <a:custGeom>
            <a:avLst/>
            <a:gdLst/>
            <a:ahLst/>
            <a:cxnLst/>
            <a:rect l="l" t="t" r="r" b="b"/>
            <a:pathLst>
              <a:path w="564552" h="564552">
                <a:moveTo>
                  <a:pt x="0" y="0"/>
                </a:moveTo>
                <a:lnTo>
                  <a:pt x="564552" y="0"/>
                </a:lnTo>
                <a:lnTo>
                  <a:pt x="564552" y="564552"/>
                </a:lnTo>
                <a:lnTo>
                  <a:pt x="0" y="564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998457" y="4198668"/>
            <a:ext cx="658473" cy="658473"/>
          </a:xfrm>
          <a:custGeom>
            <a:avLst/>
            <a:gdLst/>
            <a:ahLst/>
            <a:cxnLst/>
            <a:rect l="l" t="t" r="r" b="b"/>
            <a:pathLst>
              <a:path w="658473" h="658473">
                <a:moveTo>
                  <a:pt x="0" y="0"/>
                </a:moveTo>
                <a:lnTo>
                  <a:pt x="658473" y="0"/>
                </a:lnTo>
                <a:lnTo>
                  <a:pt x="658473" y="658473"/>
                </a:lnTo>
                <a:lnTo>
                  <a:pt x="0" y="6584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992344" y="4990491"/>
            <a:ext cx="583670" cy="583670"/>
          </a:xfrm>
          <a:custGeom>
            <a:avLst/>
            <a:gdLst/>
            <a:ahLst/>
            <a:cxnLst/>
            <a:rect l="l" t="t" r="r" b="b"/>
            <a:pathLst>
              <a:path w="583670" h="583670">
                <a:moveTo>
                  <a:pt x="0" y="0"/>
                </a:moveTo>
                <a:lnTo>
                  <a:pt x="583669" y="0"/>
                </a:lnTo>
                <a:lnTo>
                  <a:pt x="583669" y="583670"/>
                </a:lnTo>
                <a:lnTo>
                  <a:pt x="0" y="583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001291" y="5772814"/>
            <a:ext cx="652804" cy="652804"/>
          </a:xfrm>
          <a:custGeom>
            <a:avLst/>
            <a:gdLst/>
            <a:ahLst/>
            <a:cxnLst/>
            <a:rect l="l" t="t" r="r" b="b"/>
            <a:pathLst>
              <a:path w="652804" h="652804">
                <a:moveTo>
                  <a:pt x="0" y="0"/>
                </a:moveTo>
                <a:lnTo>
                  <a:pt x="652804" y="0"/>
                </a:lnTo>
                <a:lnTo>
                  <a:pt x="652804" y="652804"/>
                </a:lnTo>
                <a:lnTo>
                  <a:pt x="0" y="652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048834" y="2030349"/>
            <a:ext cx="635939" cy="635939"/>
          </a:xfrm>
          <a:custGeom>
            <a:avLst/>
            <a:gdLst/>
            <a:ahLst/>
            <a:cxnLst/>
            <a:rect l="l" t="t" r="r" b="b"/>
            <a:pathLst>
              <a:path w="635939" h="635939">
                <a:moveTo>
                  <a:pt x="0" y="0"/>
                </a:moveTo>
                <a:lnTo>
                  <a:pt x="635939" y="0"/>
                </a:lnTo>
                <a:lnTo>
                  <a:pt x="635939" y="635939"/>
                </a:lnTo>
                <a:lnTo>
                  <a:pt x="0" y="6359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048834" y="2799638"/>
            <a:ext cx="561136" cy="561136"/>
          </a:xfrm>
          <a:custGeom>
            <a:avLst/>
            <a:gdLst/>
            <a:ahLst/>
            <a:cxnLst/>
            <a:rect l="l" t="t" r="r" b="b"/>
            <a:pathLst>
              <a:path w="561136" h="561136">
                <a:moveTo>
                  <a:pt x="0" y="0"/>
                </a:moveTo>
                <a:lnTo>
                  <a:pt x="561135" y="0"/>
                </a:lnTo>
                <a:lnTo>
                  <a:pt x="561135" y="561135"/>
                </a:lnTo>
                <a:lnTo>
                  <a:pt x="0" y="5611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0096" y="1257763"/>
            <a:ext cx="11779640" cy="7853094"/>
          </a:xfrm>
          <a:custGeom>
            <a:avLst/>
            <a:gdLst/>
            <a:ahLst/>
            <a:cxnLst/>
            <a:rect l="l" t="t" r="r" b="b"/>
            <a:pathLst>
              <a:path w="11779640" h="7853094">
                <a:moveTo>
                  <a:pt x="0" y="0"/>
                </a:moveTo>
                <a:lnTo>
                  <a:pt x="11779640" y="0"/>
                </a:lnTo>
                <a:lnTo>
                  <a:pt x="11779640" y="7853094"/>
                </a:lnTo>
                <a:lnTo>
                  <a:pt x="0" y="78530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835770" y="2030349"/>
            <a:ext cx="5503971" cy="7372896"/>
          </a:xfrm>
          <a:custGeom>
            <a:avLst/>
            <a:gdLst/>
            <a:ahLst/>
            <a:cxnLst/>
            <a:rect l="l" t="t" r="r" b="b"/>
            <a:pathLst>
              <a:path w="5503971" h="7372896">
                <a:moveTo>
                  <a:pt x="0" y="0"/>
                </a:moveTo>
                <a:lnTo>
                  <a:pt x="5503971" y="0"/>
                </a:lnTo>
                <a:lnTo>
                  <a:pt x="5503971" y="7372896"/>
                </a:lnTo>
                <a:lnTo>
                  <a:pt x="0" y="737289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3775" b="-2932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11878786" y="849541"/>
            <a:ext cx="0" cy="8652243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H="1" flipV="1">
            <a:off x="12835770" y="1980795"/>
            <a:ext cx="0" cy="7553730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" y="9534525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981317" y="248012"/>
            <a:ext cx="10426046" cy="910638"/>
            <a:chOff x="0" y="0"/>
            <a:chExt cx="13901395" cy="12141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01393" cy="1214186"/>
            </a:xfrm>
            <a:custGeom>
              <a:avLst/>
              <a:gdLst/>
              <a:ahLst/>
              <a:cxnLst/>
              <a:rect l="l" t="t" r="r" b="b"/>
              <a:pathLst>
                <a:path w="13901393" h="1214186">
                  <a:moveTo>
                    <a:pt x="0" y="0"/>
                  </a:moveTo>
                  <a:lnTo>
                    <a:pt x="13901393" y="0"/>
                  </a:lnTo>
                  <a:lnTo>
                    <a:pt x="13901393" y="1214186"/>
                  </a:lnTo>
                  <a:lnTo>
                    <a:pt x="0" y="1214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3087" b="-17308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3901395" cy="12427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71702" y="1106331"/>
            <a:ext cx="560333" cy="560333"/>
            <a:chOff x="0" y="0"/>
            <a:chExt cx="1006475" cy="10064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6475" cy="1006475"/>
            </a:xfrm>
            <a:custGeom>
              <a:avLst/>
              <a:gdLst/>
              <a:ahLst/>
              <a:cxnLst/>
              <a:rect l="l" t="t" r="r" b="b"/>
              <a:pathLst>
                <a:path w="1006475" h="1006475">
                  <a:moveTo>
                    <a:pt x="0" y="0"/>
                  </a:moveTo>
                  <a:lnTo>
                    <a:pt x="1006475" y="0"/>
                  </a:lnTo>
                  <a:lnTo>
                    <a:pt x="1006475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64025" y="4764529"/>
            <a:ext cx="594936" cy="594936"/>
            <a:chOff x="0" y="0"/>
            <a:chExt cx="1369378" cy="13693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9441" cy="1369441"/>
            </a:xfrm>
            <a:custGeom>
              <a:avLst/>
              <a:gdLst/>
              <a:ahLst/>
              <a:cxnLst/>
              <a:rect l="l" t="t" r="r" b="b"/>
              <a:pathLst>
                <a:path w="1369441" h="1369441">
                  <a:moveTo>
                    <a:pt x="0" y="0"/>
                  </a:moveTo>
                  <a:lnTo>
                    <a:pt x="1369441" y="0"/>
                  </a:lnTo>
                  <a:lnTo>
                    <a:pt x="1369441" y="1369441"/>
                  </a:lnTo>
                  <a:lnTo>
                    <a:pt x="0" y="1369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0457217" y="1105479"/>
            <a:ext cx="693620" cy="646563"/>
            <a:chOff x="0" y="0"/>
            <a:chExt cx="1391628" cy="12972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1666" cy="1297178"/>
            </a:xfrm>
            <a:custGeom>
              <a:avLst/>
              <a:gdLst/>
              <a:ahLst/>
              <a:cxnLst/>
              <a:rect l="l" t="t" r="r" b="b"/>
              <a:pathLst>
                <a:path w="1391666" h="1297178">
                  <a:moveTo>
                    <a:pt x="0" y="0"/>
                  </a:moveTo>
                  <a:lnTo>
                    <a:pt x="1391666" y="0"/>
                  </a:lnTo>
                  <a:lnTo>
                    <a:pt x="1391666" y="1297178"/>
                  </a:lnTo>
                  <a:lnTo>
                    <a:pt x="0" y="1297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39" r="2" b="-3642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28479" y="1171257"/>
            <a:ext cx="430482" cy="430482"/>
            <a:chOff x="0" y="0"/>
            <a:chExt cx="806437" cy="8064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06450" cy="806450"/>
            </a:xfrm>
            <a:custGeom>
              <a:avLst/>
              <a:gdLst/>
              <a:ahLst/>
              <a:cxnLst/>
              <a:rect l="l" t="t" r="r" b="b"/>
              <a:pathLst>
                <a:path w="806450" h="806450">
                  <a:moveTo>
                    <a:pt x="0" y="0"/>
                  </a:moveTo>
                  <a:lnTo>
                    <a:pt x="806450" y="0"/>
                  </a:lnTo>
                  <a:lnTo>
                    <a:pt x="806450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226054" y="3186449"/>
            <a:ext cx="532908" cy="483900"/>
            <a:chOff x="0" y="0"/>
            <a:chExt cx="982378" cy="8920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2391" cy="892048"/>
            </a:xfrm>
            <a:custGeom>
              <a:avLst/>
              <a:gdLst/>
              <a:ahLst/>
              <a:cxnLst/>
              <a:rect l="l" t="t" r="r" b="b"/>
              <a:pathLst>
                <a:path w="982391" h="892048">
                  <a:moveTo>
                    <a:pt x="0" y="0"/>
                  </a:moveTo>
                  <a:lnTo>
                    <a:pt x="982391" y="0"/>
                  </a:lnTo>
                  <a:lnTo>
                    <a:pt x="982391" y="892048"/>
                  </a:lnTo>
                  <a:lnTo>
                    <a:pt x="0" y="89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-5065" b="-5063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98562" y="7041969"/>
            <a:ext cx="490316" cy="490316"/>
            <a:chOff x="0" y="0"/>
            <a:chExt cx="1006475" cy="10064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6475" cy="1006475"/>
            </a:xfrm>
            <a:custGeom>
              <a:avLst/>
              <a:gdLst/>
              <a:ahLst/>
              <a:cxnLst/>
              <a:rect l="l" t="t" r="r" b="b"/>
              <a:pathLst>
                <a:path w="1006475" h="1006475">
                  <a:moveTo>
                    <a:pt x="0" y="0"/>
                  </a:moveTo>
                  <a:lnTo>
                    <a:pt x="1006475" y="0"/>
                  </a:lnTo>
                  <a:lnTo>
                    <a:pt x="1006475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7355860" y="1140329"/>
            <a:ext cx="1694907" cy="56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0096" y="5276309"/>
            <a:ext cx="6211282" cy="1698985"/>
            <a:chOff x="0" y="0"/>
            <a:chExt cx="8281710" cy="22653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281712" cy="2265309"/>
            </a:xfrm>
            <a:custGeom>
              <a:avLst/>
              <a:gdLst/>
              <a:ahLst/>
              <a:cxnLst/>
              <a:rect l="l" t="t" r="r" b="b"/>
              <a:pathLst>
                <a:path w="8281712" h="2265309">
                  <a:moveTo>
                    <a:pt x="0" y="0"/>
                  </a:moveTo>
                  <a:lnTo>
                    <a:pt x="8281712" y="0"/>
                  </a:lnTo>
                  <a:lnTo>
                    <a:pt x="8281712" y="2265309"/>
                  </a:lnTo>
                  <a:lnTo>
                    <a:pt x="0" y="22653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703" r="16432" b="-3858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8281710" cy="2284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⚡ Efficiency → Less manual content work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🎯 Consistency → One source, consistent outputs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🌐 Scalability → Multi-user, multi-format, multi-organisation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🔐 Control → Validation + metadata + auditability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📢 Reach → Text + Social + Visual + Video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81529" y="7012572"/>
            <a:ext cx="3200648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 Support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222003" y="248012"/>
            <a:ext cx="1043721" cy="1043721"/>
            <a:chOff x="0" y="0"/>
            <a:chExt cx="1391628" cy="13916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91666" cy="1391666"/>
            </a:xfrm>
            <a:custGeom>
              <a:avLst/>
              <a:gdLst/>
              <a:ahLst/>
              <a:cxnLst/>
              <a:rect l="l" t="t" r="r" b="b"/>
              <a:pathLst>
                <a:path w="1391666" h="1391666">
                  <a:moveTo>
                    <a:pt x="0" y="0"/>
                  </a:moveTo>
                  <a:lnTo>
                    <a:pt x="1391666" y="0"/>
                  </a:lnTo>
                  <a:lnTo>
                    <a:pt x="1391666" y="1391666"/>
                  </a:lnTo>
                  <a:lnTo>
                    <a:pt x="0" y="1391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6528827" y="1582689"/>
            <a:ext cx="3779942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just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Technology → GenAI + APIs</a:t>
            </a:r>
          </a:p>
          <a:p>
            <a:pPr marL="325755" lvl="1" indent="-162878" algn="just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Integration → Existing Systems</a:t>
            </a:r>
          </a:p>
          <a:p>
            <a:pPr marL="325755" lvl="1" indent="-162878" algn="just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Scale → Cloud + Containers</a:t>
            </a:r>
          </a:p>
          <a:p>
            <a:pPr marL="325755" lvl="1" indent="-162878" algn="just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Output → Multiple Formats</a:t>
            </a:r>
          </a:p>
          <a:p>
            <a:pPr marL="325755" lvl="1" indent="-162878" algn="just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Control → Validation + Access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0096" y="7518219"/>
            <a:ext cx="6355446" cy="1432285"/>
            <a:chOff x="0" y="0"/>
            <a:chExt cx="8473928" cy="19097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73932" cy="1909709"/>
            </a:xfrm>
            <a:custGeom>
              <a:avLst/>
              <a:gdLst/>
              <a:ahLst/>
              <a:cxnLst/>
              <a:rect l="l" t="t" r="r" b="b"/>
              <a:pathLst>
                <a:path w="8473932" h="1909709">
                  <a:moveTo>
                    <a:pt x="0" y="0"/>
                  </a:moveTo>
                  <a:lnTo>
                    <a:pt x="8473932" y="0"/>
                  </a:lnTo>
                  <a:lnTo>
                    <a:pt x="8473932" y="1909709"/>
                  </a:lnTo>
                  <a:lnTo>
                    <a:pt x="0" y="19097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62" r="13197" b="-6438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8473928" cy="1928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🏛️ Government → Department-wide deployment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🔗 Integration → API-ready enterprise workflows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🛡️ Intelligence → Reports → Actionable communication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 i="1">
                  <a:solidFill>
                    <a:srgbClr val="1F497D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📢 Communication → One Source → Multiple Channels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30" b="-730"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80096" y="3659629"/>
            <a:ext cx="644872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📈 Market → Enterprise GenAI + Content Automation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💰 Revenue → SaaS + API + Enterprise Licensing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🚀 Scale → Multi-user + Multi-format + Multi-organisation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⚡ Value → One Source → Multiple Outputs</a:t>
            </a:r>
          </a:p>
        </p:txBody>
      </p:sp>
      <p:sp>
        <p:nvSpPr>
          <p:cNvPr id="39" name="AutoShape 39"/>
          <p:cNvSpPr/>
          <p:nvPr/>
        </p:nvSpPr>
        <p:spPr>
          <a:xfrm flipH="1" flipV="1">
            <a:off x="-3" y="3091199"/>
            <a:ext cx="6528830" cy="0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 flipH="1">
            <a:off x="-1" y="4764529"/>
            <a:ext cx="6584437" cy="0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41"/>
          <p:cNvSpPr/>
          <p:nvPr/>
        </p:nvSpPr>
        <p:spPr>
          <a:xfrm flipH="1">
            <a:off x="0" y="6978294"/>
            <a:ext cx="6584412" cy="0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 flipV="1">
            <a:off x="6584437" y="1158650"/>
            <a:ext cx="0" cy="8397429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flipV="1">
            <a:off x="10381017" y="1158650"/>
            <a:ext cx="0" cy="1932550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 flipH="1">
            <a:off x="6528827" y="3091199"/>
            <a:ext cx="11774475" cy="0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TextBox 45"/>
          <p:cNvSpPr txBox="1"/>
          <p:nvPr/>
        </p:nvSpPr>
        <p:spPr>
          <a:xfrm>
            <a:off x="881529" y="4800059"/>
            <a:ext cx="42749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Viability (Long Term Success)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274661" y="1166823"/>
            <a:ext cx="340288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&amp; Strategies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81529" y="1140329"/>
            <a:ext cx="1623527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Cases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81529" y="3183379"/>
            <a:ext cx="272625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Potential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096" y="1640992"/>
            <a:ext cx="6211282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👤 Operators → Upload • Configure • Generate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🔍 Experts → Review • Validate • Refine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⚙️ Admins → Manage • Monitor • Audit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📢 Communication Teams → Publish • Share • Reuse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 i="1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🤖 AI Engine → Understand • Transform • Validate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23892" y="1628565"/>
            <a:ext cx="673540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9138" lvl="1" indent="-194569" algn="l">
              <a:lnSpc>
                <a:spcPts val="2162"/>
              </a:lnSpc>
              <a:spcBef>
                <a:spcPct val="0"/>
              </a:spcBef>
              <a:buFont typeface="Arial"/>
              <a:buChar char="•"/>
            </a:pPr>
            <a:r>
              <a:rPr lang="en-US" sz="1802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🧠 AI Accuracy → Hallucination risk</a:t>
            </a:r>
          </a:p>
          <a:p>
            <a:pPr marL="389138" lvl="1" indent="-194569" algn="l">
              <a:lnSpc>
                <a:spcPts val="2162"/>
              </a:lnSpc>
              <a:spcBef>
                <a:spcPct val="0"/>
              </a:spcBef>
              <a:buFont typeface="Arial"/>
              <a:buChar char="•"/>
            </a:pPr>
            <a:r>
              <a:rPr lang="en-US" sz="1802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🔐 Data Security → Sensitive data leakage</a:t>
            </a:r>
          </a:p>
          <a:p>
            <a:pPr marL="389138" lvl="1" indent="-194569" algn="l">
              <a:lnSpc>
                <a:spcPts val="2162"/>
              </a:lnSpc>
              <a:spcBef>
                <a:spcPct val="0"/>
              </a:spcBef>
              <a:buFont typeface="Arial"/>
              <a:buChar char="•"/>
            </a:pPr>
            <a:r>
              <a:rPr lang="en-US" sz="1802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📄 Content Complexity → Context loss</a:t>
            </a:r>
          </a:p>
          <a:p>
            <a:pPr marL="389138" lvl="1" indent="-194569" algn="l">
              <a:lnSpc>
                <a:spcPts val="2162"/>
              </a:lnSpc>
              <a:spcBef>
                <a:spcPct val="0"/>
              </a:spcBef>
              <a:buFont typeface="Arial"/>
              <a:buChar char="•"/>
            </a:pPr>
            <a:r>
              <a:rPr lang="en-US" sz="1802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⚙️ Multi-Format → Output inconsistency</a:t>
            </a:r>
          </a:p>
          <a:p>
            <a:pPr marL="389138" lvl="1" indent="-194569" algn="l">
              <a:lnSpc>
                <a:spcPts val="2162"/>
              </a:lnSpc>
              <a:spcBef>
                <a:spcPct val="0"/>
              </a:spcBef>
              <a:buFont typeface="Arial"/>
              <a:buChar char="•"/>
            </a:pPr>
            <a:r>
              <a:rPr lang="en-US" sz="1802" b="1" i="1">
                <a:solidFill>
                  <a:srgbClr val="1F497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📈 Scalability → Higher API/infrastructure cost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731670" y="3318559"/>
            <a:ext cx="3223272" cy="2173835"/>
            <a:chOff x="0" y="0"/>
            <a:chExt cx="5461000" cy="3683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9E2F0">
                <a:alpha val="41961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671702" y="3243599"/>
            <a:ext cx="3223272" cy="2173835"/>
            <a:chOff x="0" y="0"/>
            <a:chExt cx="5461000" cy="3683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1EE"/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779500" y="3318559"/>
            <a:ext cx="3223272" cy="2173835"/>
            <a:chOff x="0" y="0"/>
            <a:chExt cx="5461000" cy="3683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9E2F0">
                <a:alpha val="41961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719533" y="3243599"/>
            <a:ext cx="3223272" cy="2173835"/>
            <a:chOff x="0" y="0"/>
            <a:chExt cx="5461000" cy="3683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1EE"/>
              </a:solidFill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827331" y="3318559"/>
            <a:ext cx="3223272" cy="2173835"/>
            <a:chOff x="0" y="0"/>
            <a:chExt cx="5461000" cy="36830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9E2F0">
                <a:alpha val="41961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4767363" y="3243599"/>
            <a:ext cx="3223272" cy="2173835"/>
            <a:chOff x="0" y="0"/>
            <a:chExt cx="5461000" cy="36830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1EE"/>
              </a:solidFill>
              <a:prstDash val="solid"/>
              <a:miter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AutoShape 70"/>
          <p:cNvSpPr/>
          <p:nvPr/>
        </p:nvSpPr>
        <p:spPr>
          <a:xfrm>
            <a:off x="9666788" y="3549433"/>
            <a:ext cx="21063711" cy="0"/>
          </a:xfrm>
          <a:prstGeom prst="line">
            <a:avLst/>
          </a:prstGeom>
          <a:ln w="9525" cap="flat">
            <a:solidFill>
              <a:srgbClr val="E8EEF7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1" name="Group 71"/>
          <p:cNvGrpSpPr/>
          <p:nvPr/>
        </p:nvGrpSpPr>
        <p:grpSpPr>
          <a:xfrm>
            <a:off x="6671702" y="3243599"/>
            <a:ext cx="3223272" cy="59968"/>
            <a:chOff x="0" y="0"/>
            <a:chExt cx="5461000" cy="1016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461000" cy="101600"/>
            </a:xfrm>
            <a:custGeom>
              <a:avLst/>
              <a:gdLst/>
              <a:ahLst/>
              <a:cxnLst/>
              <a:rect l="l" t="t" r="r" b="b"/>
              <a:pathLst>
                <a:path w="5461000" h="101600">
                  <a:moveTo>
                    <a:pt x="50800" y="0"/>
                  </a:moveTo>
                  <a:lnTo>
                    <a:pt x="5410200" y="0"/>
                  </a:lnTo>
                  <a:cubicBezTo>
                    <a:pt x="5438256" y="0"/>
                    <a:pt x="5461000" y="22744"/>
                    <a:pt x="5461000" y="50800"/>
                  </a:cubicBezTo>
                  <a:cubicBezTo>
                    <a:pt x="5461000" y="78856"/>
                    <a:pt x="5438256" y="101600"/>
                    <a:pt x="5410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461000" cy="1397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7256389" y="3404453"/>
            <a:ext cx="2458682" cy="14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1"/>
              </a:lnSpc>
            </a:pPr>
            <a:r>
              <a:rPr lang="en-US" sz="865" b="1" spc="95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PHASE 1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851606" y="3813294"/>
            <a:ext cx="2863465" cy="176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1180" b="1">
                <a:solidFill>
                  <a:srgbClr val="0B1F3A"/>
                </a:solidFill>
                <a:latin typeface="Inter Bold"/>
                <a:ea typeface="Inter Bold"/>
                <a:cs typeface="Inter Bold"/>
                <a:sym typeface="Inter Bold"/>
              </a:rPr>
              <a:t>INGESTION &amp; INPUT CONFIGURATION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851606" y="4301942"/>
            <a:ext cx="2863465" cy="56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Source asset upload</a:t>
            </a:r>
          </a:p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Operator configuration</a:t>
            </a:r>
          </a:p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Initial context extraction by the AI engine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0719533" y="3243599"/>
            <a:ext cx="3223272" cy="59968"/>
            <a:chOff x="0" y="0"/>
            <a:chExt cx="5461000" cy="1016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61000" cy="101600"/>
            </a:xfrm>
            <a:custGeom>
              <a:avLst/>
              <a:gdLst/>
              <a:ahLst/>
              <a:cxnLst/>
              <a:rect l="l" t="t" r="r" b="b"/>
              <a:pathLst>
                <a:path w="5461000" h="101600">
                  <a:moveTo>
                    <a:pt x="50800" y="0"/>
                  </a:moveTo>
                  <a:lnTo>
                    <a:pt x="5410200" y="0"/>
                  </a:lnTo>
                  <a:cubicBezTo>
                    <a:pt x="5438256" y="0"/>
                    <a:pt x="5461000" y="22744"/>
                    <a:pt x="5461000" y="50800"/>
                  </a:cubicBezTo>
                  <a:cubicBezTo>
                    <a:pt x="5461000" y="78856"/>
                    <a:pt x="5438256" y="101600"/>
                    <a:pt x="5410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5461000" cy="1397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899436" y="3453487"/>
            <a:ext cx="254863" cy="292263"/>
            <a:chOff x="0" y="0"/>
            <a:chExt cx="431800" cy="49516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31800" cy="495164"/>
            </a:xfrm>
            <a:custGeom>
              <a:avLst/>
              <a:gdLst/>
              <a:ahLst/>
              <a:cxnLst/>
              <a:rect l="l" t="t" r="r" b="b"/>
              <a:pathLst>
                <a:path w="431800" h="495164">
                  <a:moveTo>
                    <a:pt x="0" y="247582"/>
                  </a:moveTo>
                  <a:cubicBezTo>
                    <a:pt x="0" y="384318"/>
                    <a:pt x="96662" y="495164"/>
                    <a:pt x="215900" y="495164"/>
                  </a:cubicBezTo>
                  <a:cubicBezTo>
                    <a:pt x="335138" y="495164"/>
                    <a:pt x="431800" y="384318"/>
                    <a:pt x="431800" y="247582"/>
                  </a:cubicBezTo>
                  <a:cubicBezTo>
                    <a:pt x="431800" y="110846"/>
                    <a:pt x="335138" y="0"/>
                    <a:pt x="215900" y="0"/>
                  </a:cubicBezTo>
                  <a:cubicBezTo>
                    <a:pt x="96662" y="0"/>
                    <a:pt x="0" y="110846"/>
                    <a:pt x="0" y="247582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9525"/>
              <a:ext cx="431800" cy="50469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ctr">
                <a:lnSpc>
                  <a:spcPts val="1172"/>
                </a:lnSpc>
              </a:pPr>
              <a:r>
                <a:rPr lang="en-US" sz="837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1304219" y="3404453"/>
            <a:ext cx="2458682" cy="14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1"/>
              </a:lnSpc>
            </a:pPr>
            <a:r>
              <a:rPr lang="en-US" sz="865" b="1" spc="95">
                <a:solidFill>
                  <a:srgbClr val="06B6D4"/>
                </a:solidFill>
                <a:latin typeface="Inter Bold"/>
                <a:ea typeface="Inter Bold"/>
                <a:cs typeface="Inter Bold"/>
                <a:sym typeface="Inter Bold"/>
              </a:rPr>
              <a:t>PHASE 2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899436" y="3813294"/>
            <a:ext cx="2863465" cy="176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1180" b="1">
                <a:solidFill>
                  <a:srgbClr val="0B1F3A"/>
                </a:solidFill>
                <a:latin typeface="Inter Bold"/>
                <a:ea typeface="Inter Bold"/>
                <a:cs typeface="Inter Bold"/>
                <a:sym typeface="Inter Bold"/>
              </a:rPr>
              <a:t>FEASIBILITY &amp; CORE AI PROCESSING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899436" y="4301942"/>
            <a:ext cx="2863465" cy="56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Cloud container infrastructure</a:t>
            </a:r>
          </a:p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GenAI APIs</a:t>
            </a:r>
          </a:p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Existing system integrations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14767363" y="3243599"/>
            <a:ext cx="3223272" cy="59968"/>
            <a:chOff x="0" y="0"/>
            <a:chExt cx="5461000" cy="1016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461000" cy="101600"/>
            </a:xfrm>
            <a:custGeom>
              <a:avLst/>
              <a:gdLst/>
              <a:ahLst/>
              <a:cxnLst/>
              <a:rect l="l" t="t" r="r" b="b"/>
              <a:pathLst>
                <a:path w="5461000" h="101600">
                  <a:moveTo>
                    <a:pt x="50800" y="0"/>
                  </a:moveTo>
                  <a:lnTo>
                    <a:pt x="5410200" y="0"/>
                  </a:lnTo>
                  <a:cubicBezTo>
                    <a:pt x="5438256" y="0"/>
                    <a:pt x="5461000" y="22744"/>
                    <a:pt x="5461000" y="50800"/>
                  </a:cubicBezTo>
                  <a:cubicBezTo>
                    <a:pt x="5461000" y="78856"/>
                    <a:pt x="5438256" y="101600"/>
                    <a:pt x="5410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5461000" cy="13970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947267" y="3453487"/>
            <a:ext cx="254863" cy="292263"/>
            <a:chOff x="0" y="0"/>
            <a:chExt cx="431800" cy="49516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31800" cy="495164"/>
            </a:xfrm>
            <a:custGeom>
              <a:avLst/>
              <a:gdLst/>
              <a:ahLst/>
              <a:cxnLst/>
              <a:rect l="l" t="t" r="r" b="b"/>
              <a:pathLst>
                <a:path w="431800" h="495164">
                  <a:moveTo>
                    <a:pt x="0" y="247582"/>
                  </a:moveTo>
                  <a:cubicBezTo>
                    <a:pt x="0" y="384318"/>
                    <a:pt x="96662" y="495164"/>
                    <a:pt x="215900" y="495164"/>
                  </a:cubicBezTo>
                  <a:cubicBezTo>
                    <a:pt x="335138" y="495164"/>
                    <a:pt x="431800" y="384318"/>
                    <a:pt x="431800" y="247582"/>
                  </a:cubicBezTo>
                  <a:cubicBezTo>
                    <a:pt x="431800" y="110846"/>
                    <a:pt x="335138" y="0"/>
                    <a:pt x="215900" y="0"/>
                  </a:cubicBezTo>
                  <a:cubicBezTo>
                    <a:pt x="96662" y="0"/>
                    <a:pt x="0" y="110846"/>
                    <a:pt x="0" y="247582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431800" cy="504690"/>
            </a:xfrm>
            <a:prstGeom prst="rect">
              <a:avLst/>
            </a:prstGeom>
          </p:spPr>
          <p:txBody>
            <a:bodyPr lIns="30389" tIns="30389" rIns="30389" bIns="30389" rtlCol="0" anchor="ctr"/>
            <a:lstStyle/>
            <a:p>
              <a:pPr algn="ctr">
                <a:lnSpc>
                  <a:spcPts val="1172"/>
                </a:lnSpc>
              </a:pPr>
              <a:r>
                <a:rPr lang="en-US" sz="837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5352050" y="3404453"/>
            <a:ext cx="2458682" cy="14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1"/>
              </a:lnSpc>
            </a:pPr>
            <a:r>
              <a:rPr lang="en-US" sz="865" b="1" spc="95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PHASE 3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4947267" y="3813294"/>
            <a:ext cx="2863465" cy="341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2"/>
              </a:lnSpc>
            </a:pPr>
            <a:r>
              <a:rPr lang="en-US" sz="1180" b="1">
                <a:solidFill>
                  <a:srgbClr val="0B1F3A"/>
                </a:solidFill>
                <a:latin typeface="Inter Bold"/>
                <a:ea typeface="Inter Bold"/>
                <a:cs typeface="Inter Bold"/>
                <a:sym typeface="Inter Bold"/>
              </a:rPr>
              <a:t>GOVERNANCE, VALIDATION &amp; SECURITY CONTROLS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947267" y="4301942"/>
            <a:ext cx="2863465" cy="74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Hallucination checks</a:t>
            </a:r>
          </a:p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Data leakage prevention</a:t>
            </a:r>
          </a:p>
          <a:p>
            <a:pPr algn="l">
              <a:lnSpc>
                <a:spcPts val="1508"/>
              </a:lnSpc>
            </a:pPr>
            <a:r>
              <a:rPr lang="en-US" sz="1062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Expert review · admin monitoring · access controls</a:t>
            </a:r>
          </a:p>
        </p:txBody>
      </p:sp>
      <p:sp>
        <p:nvSpPr>
          <p:cNvPr id="95" name="AutoShape 95"/>
          <p:cNvSpPr/>
          <p:nvPr/>
        </p:nvSpPr>
        <p:spPr>
          <a:xfrm>
            <a:off x="9894974" y="4330517"/>
            <a:ext cx="824558" cy="0"/>
          </a:xfrm>
          <a:prstGeom prst="line">
            <a:avLst/>
          </a:prstGeom>
          <a:ln w="47625" cap="flat">
            <a:solidFill>
              <a:srgbClr val="0B1F3A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6" name="AutoShape 96"/>
          <p:cNvSpPr/>
          <p:nvPr/>
        </p:nvSpPr>
        <p:spPr>
          <a:xfrm>
            <a:off x="13942805" y="4330517"/>
            <a:ext cx="824558" cy="0"/>
          </a:xfrm>
          <a:prstGeom prst="line">
            <a:avLst/>
          </a:prstGeom>
          <a:ln w="47625" cap="flat">
            <a:solidFill>
              <a:srgbClr val="0B1F3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7" name="Group 97"/>
          <p:cNvGrpSpPr/>
          <p:nvPr/>
        </p:nvGrpSpPr>
        <p:grpSpPr>
          <a:xfrm>
            <a:off x="6750876" y="3344536"/>
            <a:ext cx="369028" cy="423181"/>
            <a:chOff x="0" y="0"/>
            <a:chExt cx="431800" cy="495165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31800" cy="495164"/>
            </a:xfrm>
            <a:custGeom>
              <a:avLst/>
              <a:gdLst/>
              <a:ahLst/>
              <a:cxnLst/>
              <a:rect l="l" t="t" r="r" b="b"/>
              <a:pathLst>
                <a:path w="431800" h="495164">
                  <a:moveTo>
                    <a:pt x="0" y="247582"/>
                  </a:moveTo>
                  <a:cubicBezTo>
                    <a:pt x="0" y="384318"/>
                    <a:pt x="96662" y="495164"/>
                    <a:pt x="215900" y="495164"/>
                  </a:cubicBezTo>
                  <a:cubicBezTo>
                    <a:pt x="335138" y="495164"/>
                    <a:pt x="431800" y="384318"/>
                    <a:pt x="431800" y="247582"/>
                  </a:cubicBezTo>
                  <a:cubicBezTo>
                    <a:pt x="431800" y="110846"/>
                    <a:pt x="335138" y="0"/>
                    <a:pt x="215900" y="0"/>
                  </a:cubicBezTo>
                  <a:cubicBezTo>
                    <a:pt x="96662" y="0"/>
                    <a:pt x="0" y="110846"/>
                    <a:pt x="0" y="247582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id="99" name="TextBox 99"/>
            <p:cNvSpPr txBox="1"/>
            <p:nvPr/>
          </p:nvSpPr>
          <p:spPr>
            <a:xfrm>
              <a:off x="0" y="-28575"/>
              <a:ext cx="431800" cy="52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7809612" y="6340119"/>
            <a:ext cx="4095750" cy="2762250"/>
            <a:chOff x="0" y="0"/>
            <a:chExt cx="5461000" cy="36830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9E2F0">
                <a:alpha val="41961"/>
              </a:srgbClr>
            </a:solid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733412" y="6244869"/>
            <a:ext cx="4095750" cy="2762250"/>
            <a:chOff x="0" y="0"/>
            <a:chExt cx="5461000" cy="36830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1EE"/>
              </a:solidFill>
              <a:prstDash val="solid"/>
              <a:miter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2953112" y="6340119"/>
            <a:ext cx="4095750" cy="2762250"/>
            <a:chOff x="0" y="0"/>
            <a:chExt cx="5461000" cy="36830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D9E2F0">
                <a:alpha val="41961"/>
              </a:srgbClr>
            </a:solidFill>
          </p:spPr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2876912" y="6244869"/>
            <a:ext cx="4095750" cy="2762250"/>
            <a:chOff x="0" y="0"/>
            <a:chExt cx="5461000" cy="36830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461000" cy="3683000"/>
            </a:xfrm>
            <a:custGeom>
              <a:avLst/>
              <a:gdLst/>
              <a:ahLst/>
              <a:cxnLst/>
              <a:rect l="l" t="t" r="r" b="b"/>
              <a:pathLst>
                <a:path w="5461000" h="3683000">
                  <a:moveTo>
                    <a:pt x="279400" y="0"/>
                  </a:moveTo>
                  <a:lnTo>
                    <a:pt x="5181600" y="0"/>
                  </a:lnTo>
                  <a:cubicBezTo>
                    <a:pt x="5335908" y="0"/>
                    <a:pt x="5461000" y="125092"/>
                    <a:pt x="5461000" y="279400"/>
                  </a:cubicBezTo>
                  <a:lnTo>
                    <a:pt x="5461000" y="3403600"/>
                  </a:lnTo>
                  <a:cubicBezTo>
                    <a:pt x="5461000" y="3557908"/>
                    <a:pt x="5335908" y="3683000"/>
                    <a:pt x="5181600" y="3683000"/>
                  </a:cubicBezTo>
                  <a:lnTo>
                    <a:pt x="279400" y="3683000"/>
                  </a:lnTo>
                  <a:cubicBezTo>
                    <a:pt x="125092" y="3683000"/>
                    <a:pt x="0" y="3557908"/>
                    <a:pt x="0" y="3403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1EE"/>
              </a:solidFill>
              <a:prstDash val="solid"/>
              <a:miter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0" y="-38100"/>
              <a:ext cx="5461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733412" y="6244869"/>
            <a:ext cx="4095750" cy="76200"/>
            <a:chOff x="0" y="0"/>
            <a:chExt cx="5461000" cy="1016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461000" cy="101600"/>
            </a:xfrm>
            <a:custGeom>
              <a:avLst/>
              <a:gdLst/>
              <a:ahLst/>
              <a:cxnLst/>
              <a:rect l="l" t="t" r="r" b="b"/>
              <a:pathLst>
                <a:path w="5461000" h="101600">
                  <a:moveTo>
                    <a:pt x="50800" y="0"/>
                  </a:moveTo>
                  <a:lnTo>
                    <a:pt x="5410200" y="0"/>
                  </a:lnTo>
                  <a:cubicBezTo>
                    <a:pt x="5438256" y="0"/>
                    <a:pt x="5461000" y="22744"/>
                    <a:pt x="5461000" y="50800"/>
                  </a:cubicBezTo>
                  <a:cubicBezTo>
                    <a:pt x="5461000" y="78856"/>
                    <a:pt x="5438256" y="101600"/>
                    <a:pt x="5410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5461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962012" y="6473469"/>
            <a:ext cx="323850" cy="371373"/>
            <a:chOff x="0" y="0"/>
            <a:chExt cx="431800" cy="495165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31800" cy="495164"/>
            </a:xfrm>
            <a:custGeom>
              <a:avLst/>
              <a:gdLst/>
              <a:ahLst/>
              <a:cxnLst/>
              <a:rect l="l" t="t" r="r" b="b"/>
              <a:pathLst>
                <a:path w="431800" h="495164">
                  <a:moveTo>
                    <a:pt x="0" y="247582"/>
                  </a:moveTo>
                  <a:cubicBezTo>
                    <a:pt x="0" y="384318"/>
                    <a:pt x="96662" y="495164"/>
                    <a:pt x="215900" y="495164"/>
                  </a:cubicBezTo>
                  <a:cubicBezTo>
                    <a:pt x="335138" y="495164"/>
                    <a:pt x="431800" y="384318"/>
                    <a:pt x="431800" y="247582"/>
                  </a:cubicBezTo>
                  <a:cubicBezTo>
                    <a:pt x="431800" y="110846"/>
                    <a:pt x="335138" y="0"/>
                    <a:pt x="215900" y="0"/>
                  </a:cubicBezTo>
                  <a:cubicBezTo>
                    <a:pt x="96662" y="0"/>
                    <a:pt x="0" y="110846"/>
                    <a:pt x="0" y="247582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0" y="-28575"/>
              <a:ext cx="431800" cy="52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id="118" name="TextBox 118"/>
          <p:cNvSpPr txBox="1"/>
          <p:nvPr/>
        </p:nvSpPr>
        <p:spPr>
          <a:xfrm>
            <a:off x="8476362" y="6444894"/>
            <a:ext cx="31242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1" spc="121">
                <a:solidFill>
                  <a:srgbClr val="0F766E"/>
                </a:solidFill>
                <a:latin typeface="Inter Bold"/>
                <a:ea typeface="Inter Bold"/>
                <a:cs typeface="Inter Bold"/>
                <a:sym typeface="Inter Bold"/>
              </a:rPr>
              <a:t>PHASE 4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962012" y="6978294"/>
            <a:ext cx="363855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500" b="1">
                <a:solidFill>
                  <a:srgbClr val="0B1F3A"/>
                </a:solidFill>
                <a:latin typeface="Inter Bold"/>
                <a:ea typeface="Inter Bold"/>
                <a:cs typeface="Inter Bold"/>
                <a:sym typeface="Inter Bold"/>
              </a:rPr>
              <a:t>MULTI-FORMAT OUTPUT &amp; DISTRIBUTION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962012" y="7597419"/>
            <a:ext cx="3638550" cy="94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350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Automated text, social, visual &amp; video generation</a:t>
            </a:r>
          </a:p>
          <a:p>
            <a:pPr algn="l">
              <a:lnSpc>
                <a:spcPts val="1916"/>
              </a:lnSpc>
            </a:pPr>
            <a:r>
              <a:rPr lang="en-US" sz="1350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Distribution through API-ready enterprise channels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12876912" y="6244869"/>
            <a:ext cx="4095750" cy="76200"/>
            <a:chOff x="0" y="0"/>
            <a:chExt cx="5461000" cy="1016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461000" cy="101600"/>
            </a:xfrm>
            <a:custGeom>
              <a:avLst/>
              <a:gdLst/>
              <a:ahLst/>
              <a:cxnLst/>
              <a:rect l="l" t="t" r="r" b="b"/>
              <a:pathLst>
                <a:path w="5461000" h="101600">
                  <a:moveTo>
                    <a:pt x="50800" y="0"/>
                  </a:moveTo>
                  <a:lnTo>
                    <a:pt x="5410200" y="0"/>
                  </a:lnTo>
                  <a:cubicBezTo>
                    <a:pt x="5438256" y="0"/>
                    <a:pt x="5461000" y="22744"/>
                    <a:pt x="5461000" y="50800"/>
                  </a:cubicBezTo>
                  <a:cubicBezTo>
                    <a:pt x="5461000" y="78856"/>
                    <a:pt x="5438256" y="101600"/>
                    <a:pt x="5410200" y="101600"/>
                  </a:cubicBezTo>
                  <a:lnTo>
                    <a:pt x="50800" y="101600"/>
                  </a:lnTo>
                  <a:cubicBezTo>
                    <a:pt x="22744" y="101600"/>
                    <a:pt x="0" y="78856"/>
                    <a:pt x="0" y="50800"/>
                  </a:cubicBez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23" name="TextBox 123"/>
            <p:cNvSpPr txBox="1"/>
            <p:nvPr/>
          </p:nvSpPr>
          <p:spPr>
            <a:xfrm>
              <a:off x="0" y="-38100"/>
              <a:ext cx="5461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3105512" y="6511569"/>
            <a:ext cx="323850" cy="371373"/>
            <a:chOff x="0" y="0"/>
            <a:chExt cx="431800" cy="495165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31800" cy="495164"/>
            </a:xfrm>
            <a:custGeom>
              <a:avLst/>
              <a:gdLst/>
              <a:ahLst/>
              <a:cxnLst/>
              <a:rect l="l" t="t" r="r" b="b"/>
              <a:pathLst>
                <a:path w="431800" h="495164">
                  <a:moveTo>
                    <a:pt x="0" y="247582"/>
                  </a:moveTo>
                  <a:cubicBezTo>
                    <a:pt x="0" y="384318"/>
                    <a:pt x="96662" y="495164"/>
                    <a:pt x="215900" y="495164"/>
                  </a:cubicBezTo>
                  <a:cubicBezTo>
                    <a:pt x="335138" y="495164"/>
                    <a:pt x="431800" y="384318"/>
                    <a:pt x="431800" y="247582"/>
                  </a:cubicBezTo>
                  <a:cubicBezTo>
                    <a:pt x="431800" y="110846"/>
                    <a:pt x="335138" y="0"/>
                    <a:pt x="215900" y="0"/>
                  </a:cubicBezTo>
                  <a:cubicBezTo>
                    <a:pt x="96662" y="0"/>
                    <a:pt x="0" y="110846"/>
                    <a:pt x="0" y="24758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id="126" name="TextBox 126"/>
            <p:cNvSpPr txBox="1"/>
            <p:nvPr/>
          </p:nvSpPr>
          <p:spPr>
            <a:xfrm>
              <a:off x="0" y="-28575"/>
              <a:ext cx="431800" cy="523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sp>
        <p:nvSpPr>
          <p:cNvPr id="127" name="TextBox 127"/>
          <p:cNvSpPr txBox="1"/>
          <p:nvPr/>
        </p:nvSpPr>
        <p:spPr>
          <a:xfrm>
            <a:off x="13619862" y="6444894"/>
            <a:ext cx="3124200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1" spc="121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PHASE 5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3105512" y="6978294"/>
            <a:ext cx="3638550" cy="2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500" b="1">
                <a:solidFill>
                  <a:srgbClr val="0B1F3A"/>
                </a:solidFill>
                <a:latin typeface="Inter Bold"/>
                <a:ea typeface="Inter Bold"/>
                <a:cs typeface="Inter Bold"/>
                <a:sym typeface="Inter Bold"/>
              </a:rPr>
              <a:t>VIABILITY &amp; BUSINESS OUTCOMES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3105512" y="7597419"/>
            <a:ext cx="3638550" cy="94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350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Manual work reduction</a:t>
            </a:r>
          </a:p>
          <a:p>
            <a:pPr algn="l">
              <a:lnSpc>
                <a:spcPts val="1916"/>
              </a:lnSpc>
            </a:pPr>
            <a:r>
              <a:rPr lang="en-US" sz="1350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Consistent messaging</a:t>
            </a:r>
          </a:p>
          <a:p>
            <a:pPr algn="l">
              <a:lnSpc>
                <a:spcPts val="1916"/>
              </a:lnSpc>
            </a:pPr>
            <a:r>
              <a:rPr lang="en-US" sz="1350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Multi-tenant scalability</a:t>
            </a:r>
          </a:p>
          <a:p>
            <a:pPr algn="l">
              <a:lnSpc>
                <a:spcPts val="1916"/>
              </a:lnSpc>
            </a:pPr>
            <a:r>
              <a:rPr lang="en-US" sz="1350">
                <a:solidFill>
                  <a:srgbClr val="52637A"/>
                </a:solidFill>
                <a:latin typeface="Inter"/>
                <a:ea typeface="Inter"/>
                <a:cs typeface="Inter"/>
                <a:sym typeface="Inter"/>
              </a:rPr>
              <a:t>• Licensing value</a:t>
            </a:r>
          </a:p>
        </p:txBody>
      </p:sp>
      <p:sp>
        <p:nvSpPr>
          <p:cNvPr id="130" name="AutoShape 130"/>
          <p:cNvSpPr/>
          <p:nvPr/>
        </p:nvSpPr>
        <p:spPr>
          <a:xfrm>
            <a:off x="11829162" y="7625994"/>
            <a:ext cx="1047750" cy="0"/>
          </a:xfrm>
          <a:prstGeom prst="line">
            <a:avLst/>
          </a:prstGeom>
          <a:ln w="57150" cap="flat">
            <a:solidFill>
              <a:srgbClr val="0B1F3A"/>
            </a:solidFill>
            <a:prstDash val="solid"/>
            <a:headEnd type="none" w="sm" len="sm"/>
            <a:tailEnd type="arrow" w="med" len="sm"/>
          </a:ln>
        </p:spPr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B44D709-66D5-1FAD-183B-4957B40E5F39}"/>
              </a:ext>
            </a:extLst>
          </p:cNvPr>
          <p:cNvCxnSpPr/>
          <p:nvPr/>
        </p:nvCxnSpPr>
        <p:spPr>
          <a:xfrm>
            <a:off x="16383000" y="5448300"/>
            <a:ext cx="0" cy="3810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979B87C-EA67-90C1-0045-30602E4394E0}"/>
              </a:ext>
            </a:extLst>
          </p:cNvPr>
          <p:cNvCxnSpPr/>
          <p:nvPr/>
        </p:nvCxnSpPr>
        <p:spPr>
          <a:xfrm flipH="1">
            <a:off x="7355860" y="5829300"/>
            <a:ext cx="902714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E503720-CC06-BBAD-B9CF-4696449165E9}"/>
              </a:ext>
            </a:extLst>
          </p:cNvPr>
          <p:cNvCxnSpPr/>
          <p:nvPr/>
        </p:nvCxnSpPr>
        <p:spPr>
          <a:xfrm>
            <a:off x="7355860" y="5829300"/>
            <a:ext cx="0" cy="179669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919258B-5B45-C8A8-9A1F-ADEEADD38032}"/>
              </a:ext>
            </a:extLst>
          </p:cNvPr>
          <p:cNvCxnSpPr/>
          <p:nvPr/>
        </p:nvCxnSpPr>
        <p:spPr>
          <a:xfrm>
            <a:off x="7355860" y="7625994"/>
            <a:ext cx="4165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539005" y="85649"/>
            <a:ext cx="8441703" cy="754856"/>
            <a:chOff x="0" y="0"/>
            <a:chExt cx="11255604" cy="10064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55606" cy="1006476"/>
            </a:xfrm>
            <a:custGeom>
              <a:avLst/>
              <a:gdLst/>
              <a:ahLst/>
              <a:cxnLst/>
              <a:rect l="l" t="t" r="r" b="b"/>
              <a:pathLst>
                <a:path w="11255606" h="1006476">
                  <a:moveTo>
                    <a:pt x="0" y="0"/>
                  </a:moveTo>
                  <a:lnTo>
                    <a:pt x="11255606" y="0"/>
                  </a:lnTo>
                  <a:lnTo>
                    <a:pt x="11255606" y="1006476"/>
                  </a:lnTo>
                  <a:lnTo>
                    <a:pt x="0" y="10064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7904" b="-167904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1255604" cy="103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96" y="66599"/>
            <a:ext cx="1747116" cy="1007349"/>
            <a:chOff x="0" y="0"/>
            <a:chExt cx="2554516" cy="147287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554516" cy="1510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6260" y="1028700"/>
            <a:ext cx="646671" cy="646671"/>
            <a:chOff x="0" y="0"/>
            <a:chExt cx="1017575" cy="10175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7524" cy="1017524"/>
            </a:xfrm>
            <a:custGeom>
              <a:avLst/>
              <a:gdLst/>
              <a:ahLst/>
              <a:cxnLst/>
              <a:rect l="l" t="t" r="r" b="b"/>
              <a:pathLst>
                <a:path w="1017524" h="1017524">
                  <a:moveTo>
                    <a:pt x="0" y="0"/>
                  </a:moveTo>
                  <a:lnTo>
                    <a:pt x="1017524" y="0"/>
                  </a:lnTo>
                  <a:lnTo>
                    <a:pt x="1017524" y="1017524"/>
                  </a:lnTo>
                  <a:lnTo>
                    <a:pt x="0" y="101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" b="-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718608" y="1148864"/>
            <a:ext cx="406342" cy="406342"/>
            <a:chOff x="0" y="0"/>
            <a:chExt cx="1017575" cy="10175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7524" cy="1017524"/>
            </a:xfrm>
            <a:custGeom>
              <a:avLst/>
              <a:gdLst/>
              <a:ahLst/>
              <a:cxnLst/>
              <a:rect l="l" t="t" r="r" b="b"/>
              <a:pathLst>
                <a:path w="1017524" h="1017524">
                  <a:moveTo>
                    <a:pt x="0" y="0"/>
                  </a:moveTo>
                  <a:lnTo>
                    <a:pt x="1017524" y="0"/>
                  </a:lnTo>
                  <a:lnTo>
                    <a:pt x="1017524" y="1017524"/>
                  </a:lnTo>
                  <a:lnTo>
                    <a:pt x="0" y="101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3781349" y="15859"/>
            <a:ext cx="909761" cy="909761"/>
            <a:chOff x="0" y="0"/>
            <a:chExt cx="1213015" cy="12130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2977" cy="1212977"/>
            </a:xfrm>
            <a:custGeom>
              <a:avLst/>
              <a:gdLst/>
              <a:ahLst/>
              <a:cxnLst/>
              <a:rect l="l" t="t" r="r" b="b"/>
              <a:pathLst>
                <a:path w="1212977" h="1212977">
                  <a:moveTo>
                    <a:pt x="0" y="0"/>
                  </a:moveTo>
                  <a:lnTo>
                    <a:pt x="1212977" y="0"/>
                  </a:lnTo>
                  <a:lnTo>
                    <a:pt x="1212977" y="1212977"/>
                  </a:lnTo>
                  <a:lnTo>
                    <a:pt x="0" y="121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-19050" y="1580832"/>
            <a:ext cx="8369789" cy="1432285"/>
            <a:chOff x="0" y="0"/>
            <a:chExt cx="11159719" cy="19097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159720" cy="1909709"/>
            </a:xfrm>
            <a:custGeom>
              <a:avLst/>
              <a:gdLst/>
              <a:ahLst/>
              <a:cxnLst/>
              <a:rect l="l" t="t" r="r" b="b"/>
              <a:pathLst>
                <a:path w="11159720" h="1909709">
                  <a:moveTo>
                    <a:pt x="0" y="0"/>
                  </a:moveTo>
                  <a:lnTo>
                    <a:pt x="11159720" y="0"/>
                  </a:lnTo>
                  <a:lnTo>
                    <a:pt x="11159720" y="1909709"/>
                  </a:lnTo>
                  <a:lnTo>
                    <a:pt x="0" y="19097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772" r="14840" b="-7916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1159719" cy="19287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👤 Content Operators: Faster content creation &amp; reduced manual effort.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🧠 Domain Experts: Easier review, validation &amp; refinement of AI outputs.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📢 Communication Teams: Multiple formats from a single source.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🏢 Organisations: Consistent, scalable &amp; streamlined communication.</a:t>
              </a:r>
            </a:p>
            <a:p>
              <a:pPr marL="325755" lvl="1" indent="-162878" algn="l">
                <a:lnSpc>
                  <a:spcPts val="2160"/>
                </a:lnSpc>
                <a:buFont typeface="Arial"/>
                <a:buChar char="•"/>
              </a:pPr>
              <a:r>
                <a:rPr lang="en-US" sz="18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🌐 End Users: Faster access to clear, audience-specific information.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30" b="-730"/>
              </a:stretch>
            </a:blipFill>
          </p:spPr>
        </p:sp>
      </p:grpSp>
      <p:sp>
        <p:nvSpPr>
          <p:cNvPr id="24" name="AutoShape 24"/>
          <p:cNvSpPr/>
          <p:nvPr/>
        </p:nvSpPr>
        <p:spPr>
          <a:xfrm flipV="1">
            <a:off x="8350739" y="925620"/>
            <a:ext cx="0" cy="2110294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 flipV="1">
            <a:off x="-1" y="3008955"/>
            <a:ext cx="18288002" cy="4162"/>
          </a:xfrm>
          <a:prstGeom prst="line">
            <a:avLst/>
          </a:prstGeom>
          <a:ln w="38100" cap="flat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002706" y="1114107"/>
            <a:ext cx="590590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Impact on the Target Audience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53525" y="1114107"/>
            <a:ext cx="4098065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 of the Solution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2321" y="1595720"/>
            <a:ext cx="959570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🌐 Social Impact: Faster, consistent &amp; accessible communication across languages and audiences.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💰 Economic Impact: Reduces manual content-production time, effort &amp; operational costs.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🌱 Environmental Impact: Less paper-based documentation and reduced resource consumption.</a:t>
            </a:r>
          </a:p>
          <a:p>
            <a:pPr marL="325755" lvl="1" indent="-162878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📈 Organisational Impact: One source → multiple deliverables → higher productivity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85866" y="2955967"/>
            <a:ext cx="26718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 dirty="0" err="1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Comparision</a:t>
            </a:r>
            <a:r>
              <a:rPr lang="en-US" sz="2700" b="1" u="sng" dirty="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Table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F36E09F-44CA-1862-9F02-A968589C4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483350"/>
              </p:ext>
            </p:extLst>
          </p:nvPr>
        </p:nvGraphicFramePr>
        <p:xfrm>
          <a:off x="80096" y="3344249"/>
          <a:ext cx="18027930" cy="6128911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3605586">
                  <a:extLst>
                    <a:ext uri="{9D8B030D-6E8A-4147-A177-3AD203B41FA5}">
                      <a16:colId xmlns:a16="http://schemas.microsoft.com/office/drawing/2014/main" val="325819797"/>
                    </a:ext>
                  </a:extLst>
                </a:gridCol>
                <a:gridCol w="3605586">
                  <a:extLst>
                    <a:ext uri="{9D8B030D-6E8A-4147-A177-3AD203B41FA5}">
                      <a16:colId xmlns:a16="http://schemas.microsoft.com/office/drawing/2014/main" val="3899001941"/>
                    </a:ext>
                  </a:extLst>
                </a:gridCol>
                <a:gridCol w="3605586">
                  <a:extLst>
                    <a:ext uri="{9D8B030D-6E8A-4147-A177-3AD203B41FA5}">
                      <a16:colId xmlns:a16="http://schemas.microsoft.com/office/drawing/2014/main" val="2483763536"/>
                    </a:ext>
                  </a:extLst>
                </a:gridCol>
                <a:gridCol w="3605586">
                  <a:extLst>
                    <a:ext uri="{9D8B030D-6E8A-4147-A177-3AD203B41FA5}">
                      <a16:colId xmlns:a16="http://schemas.microsoft.com/office/drawing/2014/main" val="3898404771"/>
                    </a:ext>
                  </a:extLst>
                </a:gridCol>
                <a:gridCol w="3605586">
                  <a:extLst>
                    <a:ext uri="{9D8B030D-6E8A-4147-A177-3AD203B41FA5}">
                      <a16:colId xmlns:a16="http://schemas.microsoft.com/office/drawing/2014/main" val="174088123"/>
                    </a:ext>
                  </a:extLst>
                </a:gridCol>
              </a:tblGrid>
              <a:tr h="38959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💡 What Matters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effectLst/>
                        </a:rPr>
                        <a:t>🚀 Our Platform</a:t>
                      </a:r>
                      <a:endParaRPr lang="en-IN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😓 Traditional Way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🤖 Generic AI Tools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❤️ Why It Matters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6677819"/>
                  </a:ext>
                </a:extLst>
              </a:tr>
              <a:tr h="6505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effectLst/>
                        </a:rPr>
                        <a:t>📥 Input</a:t>
                      </a:r>
                      <a:endParaRPr lang="en-IN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PDF • Text • Image • Video • Prompt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📄 Manual reading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📝 Mostly text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Anything in → Ready content out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5419949"/>
                  </a:ext>
                </a:extLst>
              </a:tr>
              <a:tr h="6505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effectLst/>
                        </a:rPr>
                        <a:t>🧠 Understanding</a:t>
                      </a:r>
                      <a:endParaRPr lang="en-IN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Context + Intent + Key Points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👤 Human effort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🤖 Basic understanding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Less chance of missing the message</a:t>
                      </a:r>
                      <a:endParaRPr lang="en-IN" sz="20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3607822"/>
                  </a:ext>
                </a:extLst>
              </a:tr>
              <a:tr h="38959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🔄 Multiple Formats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1 Source → 7+ Outputs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😓 One-by-one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🔁 Separate generation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Create once, use everywhere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6477459"/>
                  </a:ext>
                </a:extLst>
              </a:tr>
              <a:tr h="6505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🎯 Right Audience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Tone • Language • Detail • Objective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✍️ Manual editing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⚙️ Limited control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Same message, right communication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7562151"/>
                  </a:ext>
                </a:extLst>
              </a:tr>
              <a:tr h="6505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🎬 Video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Script → Scenes → Video → Subtitles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🎥 Time-consuming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🧩 Multiple tools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No tool-hopping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0511801"/>
                  </a:ext>
                </a:extLst>
              </a:tr>
              <a:tr h="55448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✅ Accuracy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AI + Human Review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👤 Fully manual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⚠️ User-dependent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Critical information gets reviewed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2899508"/>
                  </a:ext>
                </a:extLst>
              </a:tr>
              <a:tr h="38959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⚡ Speed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Automated workflow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🐌 Slow &amp; repetitive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⚡ Faster but fragmented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Less time, more output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6290071"/>
                  </a:ext>
                </a:extLst>
              </a:tr>
              <a:tr h="55448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🏢 Scale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Multi-user + Multi-organisation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👥 Needs more people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🔒 Tool-dependent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Built for Govt. &amp; Enterprise use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7459410"/>
                  </a:ext>
                </a:extLst>
              </a:tr>
              <a:tr h="55448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🔐 Control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Validation + Access + Metadata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📂 Manual controls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❓ Varies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Safer, controlled workflow</a:t>
                      </a:r>
                      <a:endParaRPr lang="en-IN" sz="20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2242472"/>
                  </a:ext>
                </a:extLst>
              </a:tr>
              <a:tr h="6505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effectLst/>
                        </a:rPr>
                        <a:t>🌐 Final Use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Preview → Edit → Download → Publish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📑 Manual formatting</a:t>
                      </a:r>
                      <a:endParaRPr lang="en-IN" sz="20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🔀 Multiple platforms</a:t>
                      </a:r>
                      <a:endParaRPr lang="en-IN" sz="20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Ready-to-use communication</a:t>
                      </a:r>
                      <a:endParaRPr lang="en-IN" sz="20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9736" marR="49736" marT="24868" marB="24868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58674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534525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763947" y="129483"/>
            <a:ext cx="10760107" cy="919250"/>
            <a:chOff x="0" y="0"/>
            <a:chExt cx="14346809" cy="12256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46810" cy="1225668"/>
            </a:xfrm>
            <a:custGeom>
              <a:avLst/>
              <a:gdLst/>
              <a:ahLst/>
              <a:cxnLst/>
              <a:rect l="l" t="t" r="r" b="b"/>
              <a:pathLst>
                <a:path w="14346810" h="1225668">
                  <a:moveTo>
                    <a:pt x="0" y="0"/>
                  </a:moveTo>
                  <a:lnTo>
                    <a:pt x="14346810" y="0"/>
                  </a:lnTo>
                  <a:lnTo>
                    <a:pt x="14346810" y="1225668"/>
                  </a:lnTo>
                  <a:lnTo>
                    <a:pt x="0" y="1225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7019" b="-16913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46809" cy="12637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20"/>
                </a:lnSpc>
              </a:pPr>
              <a:r>
                <a:rPr lang="en-US" sz="4600" b="1" u="sng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63807" y="251282"/>
            <a:ext cx="735292" cy="735292"/>
            <a:chOff x="0" y="0"/>
            <a:chExt cx="980389" cy="980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80440" cy="980440"/>
            </a:xfrm>
            <a:custGeom>
              <a:avLst/>
              <a:gdLst/>
              <a:ahLst/>
              <a:cxnLst/>
              <a:rect l="l" t="t" r="r" b="b"/>
              <a:pathLst>
                <a:path w="980440" h="980440">
                  <a:moveTo>
                    <a:pt x="0" y="0"/>
                  </a:moveTo>
                  <a:lnTo>
                    <a:pt x="980440" y="0"/>
                  </a:lnTo>
                  <a:lnTo>
                    <a:pt x="980440" y="980440"/>
                  </a:lnTo>
                  <a:lnTo>
                    <a:pt x="0" y="980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5" b="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0" b="-73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863807" y="9614945"/>
            <a:ext cx="105603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i="1" u="sng">
                <a:solidFill>
                  <a:srgbClr val="EEEC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Transforming Information into Intelligent Communication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5ED6E87-7A3E-3B2E-23BD-0ABBAA383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89537"/>
              </p:ext>
            </p:extLst>
          </p:nvPr>
        </p:nvGraphicFramePr>
        <p:xfrm>
          <a:off x="80096" y="1600201"/>
          <a:ext cx="18055504" cy="77541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1304">
                  <a:extLst>
                    <a:ext uri="{9D8B030D-6E8A-4147-A177-3AD203B41FA5}">
                      <a16:colId xmlns:a16="http://schemas.microsoft.com/office/drawing/2014/main" val="936044199"/>
                    </a:ext>
                  </a:extLst>
                </a:gridCol>
                <a:gridCol w="5526448">
                  <a:extLst>
                    <a:ext uri="{9D8B030D-6E8A-4147-A177-3AD203B41FA5}">
                      <a16:colId xmlns:a16="http://schemas.microsoft.com/office/drawing/2014/main" val="768483518"/>
                    </a:ext>
                  </a:extLst>
                </a:gridCol>
                <a:gridCol w="4513876">
                  <a:extLst>
                    <a:ext uri="{9D8B030D-6E8A-4147-A177-3AD203B41FA5}">
                      <a16:colId xmlns:a16="http://schemas.microsoft.com/office/drawing/2014/main" val="3488320311"/>
                    </a:ext>
                  </a:extLst>
                </a:gridCol>
                <a:gridCol w="4513876">
                  <a:extLst>
                    <a:ext uri="{9D8B030D-6E8A-4147-A177-3AD203B41FA5}">
                      <a16:colId xmlns:a16="http://schemas.microsoft.com/office/drawing/2014/main" val="2316461277"/>
                    </a:ext>
                  </a:extLst>
                </a:gridCol>
              </a:tblGrid>
              <a:tr h="330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Research / Source</a:t>
                      </a:r>
                      <a:endParaRPr lang="en-IN" sz="2000" b="1" dirty="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Key Finding</a:t>
                      </a:r>
                      <a:endParaRPr lang="en-IN" sz="2000" b="1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Relevance to Our Solution</a:t>
                      </a:r>
                      <a:endParaRPr lang="en-IN" sz="2000" b="1" dirty="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Link</a:t>
                      </a:r>
                      <a:endParaRPr lang="en-IN" sz="2000" b="1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7855"/>
                  </a:ext>
                </a:extLst>
              </a:tr>
              <a:tr h="1306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McKinsey – Economic Potential of Generative AI</a:t>
                      </a:r>
                      <a:endParaRPr lang="en-IN" sz="2000" b="1" dirty="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GenAI can create significant productivity gains, especially in content-heavy functions such as marketing, sales and knowledge work. (</a:t>
                      </a:r>
                      <a:r>
                        <a:rPr lang="en-IN" sz="2000" u="sng">
                          <a:effectLst/>
                          <a:hlinkClick r:id="rId5"/>
                        </a:rPr>
                        <a:t>McKinsey &amp; Company</a:t>
                      </a:r>
                      <a:r>
                        <a:rPr lang="en-IN" sz="2000">
                          <a:effectLst/>
                        </a:rPr>
                        <a:t>)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Supports our idea of automating repetitive content creation and transformation.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u="sng">
                          <a:effectLst/>
                          <a:hlinkClick r:id="rId5"/>
                        </a:rPr>
                        <a:t>Full Research → McKinsey</a:t>
                      </a:r>
                      <a:endParaRPr lang="en-IN" sz="2000" u="sng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368192"/>
                  </a:ext>
                </a:extLst>
              </a:tr>
              <a:tr h="144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UK Government – Assist: AI for Government Communicators</a:t>
                      </a:r>
                      <a:endParaRPr lang="en-IN" sz="2000" b="1" dirty="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A secure GenAI tool is being used by government communicators for drafting, reviewing, planning and improving communication. (</a:t>
                      </a:r>
                      <a:r>
                        <a:rPr lang="en-IN" sz="2000" u="sng">
                          <a:effectLst/>
                          <a:hlinkClick r:id="rId6"/>
                        </a:rPr>
                        <a:t>Government Communications</a:t>
                      </a:r>
                      <a:r>
                        <a:rPr lang="en-IN" sz="2000">
                          <a:effectLst/>
                        </a:rPr>
                        <a:t>)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Directly validates our government communication use case and human-review workflow.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u="sng">
                          <a:effectLst/>
                          <a:hlinkClick r:id="rId6"/>
                        </a:rPr>
                        <a:t>Full Research → GOV.UK</a:t>
                      </a:r>
                      <a:endParaRPr lang="en-IN" sz="2000" u="sng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32522"/>
                  </a:ext>
                </a:extLst>
              </a:tr>
              <a:tr h="144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U.S. GAO – GenAI Use at Federal Agencies</a:t>
                      </a:r>
                      <a:endParaRPr lang="en-IN" sz="2000" b="1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Reported GenAI use cases across selected agencies increased substantially, while agencies also identified privacy, policy and reliability challenges. (</a:t>
                      </a:r>
                      <a:r>
                        <a:rPr lang="en-IN" sz="2000" u="sng">
                          <a:effectLst/>
                          <a:hlinkClick r:id="rId7"/>
                        </a:rPr>
                        <a:t>Government Accountability Office</a:t>
                      </a:r>
                      <a:r>
                        <a:rPr lang="en-IN" sz="2000">
                          <a:effectLst/>
                        </a:rPr>
                        <a:t>)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Supports the need for scalable AI + validation + security/governance in government environments.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u="sng">
                          <a:effectLst/>
                          <a:hlinkClick r:id="rId7"/>
                        </a:rPr>
                        <a:t>Full Report → GAO</a:t>
                      </a:r>
                      <a:endParaRPr lang="en-IN" sz="2000" u="sng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972395"/>
                  </a:ext>
                </a:extLst>
              </a:tr>
              <a:tr h="748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NIST – Generative AI Risk Management Framework</a:t>
                      </a:r>
                      <a:endParaRPr lang="en-IN" sz="2000" b="1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Provides guidance for identifying and managing GenAI-specific risks across the AI lifecycle. (</a:t>
                      </a:r>
                      <a:r>
                        <a:rPr lang="en-IN" sz="2000" u="sng">
                          <a:effectLst/>
                          <a:hlinkClick r:id="rId8"/>
                        </a:rPr>
                        <a:t>NIST</a:t>
                      </a:r>
                      <a:r>
                        <a:rPr lang="en-IN" sz="2000">
                          <a:effectLst/>
                        </a:rPr>
                        <a:t>)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Supports our validation, controlled generation and responsible-AI approach.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u="sng">
                          <a:effectLst/>
                          <a:hlinkClick r:id="rId8"/>
                        </a:rPr>
                        <a:t>Full Research → NIST</a:t>
                      </a:r>
                      <a:endParaRPr lang="en-IN" sz="2000" u="sng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27863"/>
                  </a:ext>
                </a:extLst>
              </a:tr>
              <a:tr h="144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Springer – GenAI for Cyber Threat Intelligence</a:t>
                      </a:r>
                      <a:endParaRPr lang="en-IN" sz="2000" b="1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Reviews GenAI applications across security reports, threat intelligence and diverse cyber-data sources, while highlighting limitations and challenges. (</a:t>
                      </a:r>
                      <a:r>
                        <a:rPr lang="en-IN" sz="2000" u="sng">
                          <a:effectLst/>
                          <a:hlinkClick r:id="rId9"/>
                        </a:rPr>
                        <a:t>Springer Link</a:t>
                      </a:r>
                      <a:r>
                        <a:rPr lang="en-IN" sz="2000">
                          <a:effectLst/>
                        </a:rPr>
                        <a:t>)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Strongly connects our platform to NTRO + Cybersecurity theme, especially transforming threat intelligence into actionable communication.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u="sng">
                          <a:effectLst/>
                          <a:hlinkClick r:id="rId9"/>
                        </a:rPr>
                        <a:t>Full Research → Springer Nature</a:t>
                      </a:r>
                      <a:endParaRPr lang="en-IN" sz="2000" u="sng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265998"/>
                  </a:ext>
                </a:extLst>
              </a:tr>
              <a:tr h="1027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Springer – GenAI in Cybersecurity Operations</a:t>
                      </a:r>
                      <a:endParaRPr lang="en-IN" sz="2000" b="1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 dirty="0">
                          <a:effectLst/>
                        </a:rPr>
                        <a:t>Research highlights GenAI's potential for threat detection and response, while noting risks such as incorrect outputs and misuse. (</a:t>
                      </a:r>
                      <a:r>
                        <a:rPr lang="en-IN" sz="2000" u="sng" dirty="0">
                          <a:effectLst/>
                          <a:hlinkClick r:id="rId10"/>
                        </a:rPr>
                        <a:t>Springer Link</a:t>
                      </a:r>
                      <a:r>
                        <a:rPr lang="en-IN" sz="2000" dirty="0">
                          <a:effectLst/>
                        </a:rPr>
                        <a:t>)</a:t>
                      </a:r>
                      <a:endParaRPr lang="en-IN" sz="2000" dirty="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Supports our AI + human validation model for sensitive cybersecurity content.</a:t>
                      </a:r>
                      <a:endParaRPr lang="en-IN" sz="200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u="sng" dirty="0">
                          <a:effectLst/>
                          <a:hlinkClick r:id="rId10"/>
                        </a:rPr>
                        <a:t>Full Research → Springer Nature</a:t>
                      </a:r>
                      <a:endParaRPr lang="en-IN" sz="2000" u="sng" dirty="0">
                        <a:solidFill>
                          <a:srgbClr val="1F497D"/>
                        </a:solidFill>
                        <a:effectLst/>
                      </a:endParaRPr>
                    </a:p>
                  </a:txBody>
                  <a:tcPr marL="30512" marR="30512" marT="15256" marB="152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493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6406" y="19650"/>
            <a:ext cx="12457519" cy="1277283"/>
            <a:chOff x="0" y="0"/>
            <a:chExt cx="16610025" cy="1703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0028" cy="1703042"/>
            </a:xfrm>
            <a:custGeom>
              <a:avLst/>
              <a:gdLst/>
              <a:ahLst/>
              <a:cxnLst/>
              <a:rect l="l" t="t" r="r" b="b"/>
              <a:pathLst>
                <a:path w="16610028" h="1703042">
                  <a:moveTo>
                    <a:pt x="0" y="0"/>
                  </a:moveTo>
                  <a:lnTo>
                    <a:pt x="16610028" y="0"/>
                  </a:lnTo>
                  <a:lnTo>
                    <a:pt x="16610028" y="1703042"/>
                  </a:lnTo>
                  <a:lnTo>
                    <a:pt x="0" y="17030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0040" b="-14004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6610025" cy="1722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488996"/>
            <a:ext cx="18288000" cy="786384"/>
            <a:chOff x="0" y="0"/>
            <a:chExt cx="24384000" cy="10485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48512"/>
            </a:xfrm>
            <a:custGeom>
              <a:avLst/>
              <a:gdLst/>
              <a:ahLst/>
              <a:cxnLst/>
              <a:rect l="l" t="t" r="r" b="b"/>
              <a:pathLst>
                <a:path w="24384000" h="1048512">
                  <a:moveTo>
                    <a:pt x="0" y="0"/>
                  </a:moveTo>
                  <a:lnTo>
                    <a:pt x="24384000" y="0"/>
                  </a:lnTo>
                  <a:lnTo>
                    <a:pt x="24384000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240000" y="-40910"/>
            <a:ext cx="3048001" cy="1424696"/>
            <a:chOff x="0" y="0"/>
            <a:chExt cx="4804550" cy="22457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4508" cy="2245741"/>
            </a:xfrm>
            <a:custGeom>
              <a:avLst/>
              <a:gdLst/>
              <a:ahLst/>
              <a:cxnLst/>
              <a:rect l="l" t="t" r="r" b="b"/>
              <a:pathLst>
                <a:path w="4804508" h="2245741">
                  <a:moveTo>
                    <a:pt x="0" y="0"/>
                  </a:moveTo>
                  <a:lnTo>
                    <a:pt x="4804508" y="0"/>
                  </a:lnTo>
                  <a:lnTo>
                    <a:pt x="4804508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0" b="-7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0096" y="66599"/>
            <a:ext cx="1915887" cy="1104658"/>
            <a:chOff x="0" y="0"/>
            <a:chExt cx="2554516" cy="1472878"/>
          </a:xfrm>
        </p:grpSpPr>
        <p:sp>
          <p:nvSpPr>
            <p:cNvPr id="10" name="Freeform 10" descr="Your startup LOGO"/>
            <p:cNvSpPr/>
            <p:nvPr/>
          </p:nvSpPr>
          <p:spPr>
            <a:xfrm>
              <a:off x="0" y="0"/>
              <a:ext cx="2554478" cy="1472804"/>
            </a:xfrm>
            <a:custGeom>
              <a:avLst/>
              <a:gdLst/>
              <a:ahLst/>
              <a:cxnLst/>
              <a:rect l="l" t="t" r="r" b="b"/>
              <a:pathLst>
                <a:path w="2554478" h="1472804">
                  <a:moveTo>
                    <a:pt x="0" y="736402"/>
                  </a:moveTo>
                  <a:cubicBezTo>
                    <a:pt x="0" y="329754"/>
                    <a:pt x="571881" y="0"/>
                    <a:pt x="1277239" y="0"/>
                  </a:cubicBezTo>
                  <a:cubicBezTo>
                    <a:pt x="1982597" y="0"/>
                    <a:pt x="2554478" y="329754"/>
                    <a:pt x="2554478" y="736402"/>
                  </a:cubicBezTo>
                  <a:cubicBezTo>
                    <a:pt x="2554478" y="1143049"/>
                    <a:pt x="1982597" y="1472804"/>
                    <a:pt x="1277239" y="1472804"/>
                  </a:cubicBezTo>
                  <a:cubicBezTo>
                    <a:pt x="571881" y="1472804"/>
                    <a:pt x="0" y="1143197"/>
                    <a:pt x="0" y="73640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554516" cy="153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i="1">
                  <a:solidFill>
                    <a:srgbClr val="1F497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Prime movers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1170108" y="1018642"/>
            <a:ext cx="145409" cy="8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"/>
              </a:lnSpc>
            </a:pPr>
            <a:endParaRPr/>
          </a:p>
          <a:p>
            <a:pPr algn="ctr">
              <a:lnSpc>
                <a:spcPts val="179"/>
              </a:lnSpc>
            </a:pPr>
            <a:r>
              <a:rPr lang="en-US" sz="1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46499" y="9506502"/>
            <a:ext cx="3595002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u="sng">
                <a:solidFill>
                  <a:srgbClr val="EEECE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THANKS FOR WATCHING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BE25D9-5D75-C815-B788-39AD09DF4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05350"/>
              </p:ext>
            </p:extLst>
          </p:nvPr>
        </p:nvGraphicFramePr>
        <p:xfrm>
          <a:off x="80096" y="1485899"/>
          <a:ext cx="18055504" cy="7877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3876">
                  <a:extLst>
                    <a:ext uri="{9D8B030D-6E8A-4147-A177-3AD203B41FA5}">
                      <a16:colId xmlns:a16="http://schemas.microsoft.com/office/drawing/2014/main" val="3763487775"/>
                    </a:ext>
                  </a:extLst>
                </a:gridCol>
                <a:gridCol w="4513876">
                  <a:extLst>
                    <a:ext uri="{9D8B030D-6E8A-4147-A177-3AD203B41FA5}">
                      <a16:colId xmlns:a16="http://schemas.microsoft.com/office/drawing/2014/main" val="2529809835"/>
                    </a:ext>
                  </a:extLst>
                </a:gridCol>
                <a:gridCol w="4513876">
                  <a:extLst>
                    <a:ext uri="{9D8B030D-6E8A-4147-A177-3AD203B41FA5}">
                      <a16:colId xmlns:a16="http://schemas.microsoft.com/office/drawing/2014/main" val="3533936264"/>
                    </a:ext>
                  </a:extLst>
                </a:gridCol>
                <a:gridCol w="4513876">
                  <a:extLst>
                    <a:ext uri="{9D8B030D-6E8A-4147-A177-3AD203B41FA5}">
                      <a16:colId xmlns:a16="http://schemas.microsoft.com/office/drawing/2014/main" val="3573505801"/>
                    </a:ext>
                  </a:extLst>
                </a:gridCol>
              </a:tblGrid>
              <a:tr h="108782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800" dirty="0">
                          <a:effectLst/>
                        </a:rPr>
                        <a:t>👤 Team Member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800">
                          <a:effectLst/>
                        </a:rPr>
                        <a:t>💼 Primary Role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800">
                          <a:effectLst/>
                        </a:rPr>
                        <a:t>🧩 Domain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800">
                          <a:effectLst/>
                        </a:rPr>
                        <a:t>📋 Key Responsibilities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175427"/>
                  </a:ext>
                </a:extLst>
              </a:tr>
              <a:tr h="1087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ARPITA PATEL</a:t>
                      </a:r>
                      <a:endParaRPr lang="en-IN" sz="2800" b="1" dirty="0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BACKEND DEVELOPER</a:t>
                      </a:r>
                      <a:endParaRPr lang="en-IN" sz="2800" b="1" dirty="0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🤖 AI &amp; DEVELOPMENT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SERVER SIDE SCRIPTING &amp; INTEGRATION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478032"/>
                  </a:ext>
                </a:extLst>
              </a:tr>
              <a:tr h="1422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MAYANK GUPTA</a:t>
                      </a:r>
                      <a:endParaRPr lang="en-IN" sz="2800" b="1" dirty="0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Operations &amp; Domain Strategy</a:t>
                      </a:r>
                      <a:endParaRPr lang="en-IN" sz="2800" b="1" dirty="0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💻 STRATEGY &amp; METHOD STRUCTURAL THINKING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PPT MAKING &amp; STRUCTURE DESIGNING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275535"/>
                  </a:ext>
                </a:extLst>
              </a:tr>
              <a:tr h="1015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SUJIT KUMAR PATHAK</a:t>
                      </a:r>
                      <a:endParaRPr lang="en-IN" sz="2800" b="1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FRONTEND DEVELOPER</a:t>
                      </a:r>
                      <a:endParaRPr lang="en-IN" sz="2800" b="1" dirty="0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🧠 DESIGN &amp; LAYOUT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UI/UX DESIGNING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893473"/>
                  </a:ext>
                </a:extLst>
              </a:tr>
              <a:tr h="1087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VANSH GARG</a:t>
                      </a:r>
                      <a:endParaRPr lang="en-IN" sz="2800" b="1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BACKEND DEVELOPER</a:t>
                      </a:r>
                      <a:endParaRPr lang="en-IN" sz="2800" b="1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🤖 AI &amp; DEVELOPMENT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SERVER SIDE SCRIPTING &amp; INTEGRATION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748966"/>
                  </a:ext>
                </a:extLst>
              </a:tr>
              <a:tr h="1087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VANSH TYAGI</a:t>
                      </a:r>
                      <a:endParaRPr lang="en-IN" sz="2800" b="1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BACKEND DEVELOPER</a:t>
                      </a:r>
                      <a:endParaRPr lang="en-IN" sz="2800" b="1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🤖 AI &amp; DEVELOPMENT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SERVER SIDE SCRIPTING &amp; INTEGRATION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575968"/>
                  </a:ext>
                </a:extLst>
              </a:tr>
              <a:tr h="1087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SHUBHAM</a:t>
                      </a:r>
                      <a:endParaRPr lang="en-IN" sz="2800" b="1" dirty="0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Operations &amp; FRONTEND</a:t>
                      </a:r>
                      <a:endParaRPr lang="en-IN" sz="2800" b="1">
                        <a:effectLst/>
                      </a:endParaRP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🏢 OPERATIONS &amp; DESIGN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LAYOUT DESIGNING &amp; PPT MAKING</a:t>
                      </a:r>
                    </a:p>
                  </a:txBody>
                  <a:tcPr marL="49781" marR="49781" marT="24891" marB="248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1343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1328</Words>
  <Application>Microsoft Office PowerPoint</Application>
  <PresentationFormat>Custom</PresentationFormat>
  <Paragraphs>244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Garamond Bold</vt:lpstr>
      <vt:lpstr>Times New Roman Bold</vt:lpstr>
      <vt:lpstr>Arial Bold</vt:lpstr>
      <vt:lpstr>Inter</vt:lpstr>
      <vt:lpstr>Calibri (MS) Bold</vt:lpstr>
      <vt:lpstr>Arial Bold Italics</vt:lpstr>
      <vt:lpstr>Arial</vt:lpstr>
      <vt:lpstr>Calibri (MS) Italics</vt:lpstr>
      <vt:lpstr>Arial Italics</vt:lpstr>
      <vt:lpstr>Inter Bold</vt:lpstr>
      <vt:lpstr>Calibri (MS) Bold Italics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movers</dc:title>
  <dc:creator>Vansh</dc:creator>
  <cp:lastModifiedBy>Vansh Garg</cp:lastModifiedBy>
  <cp:revision>3</cp:revision>
  <dcterms:created xsi:type="dcterms:W3CDTF">2006-08-16T00:00:00Z</dcterms:created>
  <dcterms:modified xsi:type="dcterms:W3CDTF">2026-09-10T15:17:42Z</dcterms:modified>
  <dc:identifier>DAHUuL5pIzs</dc:identifier>
</cp:coreProperties>
</file>