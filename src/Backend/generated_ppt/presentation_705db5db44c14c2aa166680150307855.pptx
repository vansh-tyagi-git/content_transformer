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365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F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784080" y="-1097280"/>
            <a:ext cx="4114800" cy="4114800"/>
          </a:xfrm>
          <a:prstGeom prst="ellipse">
            <a:avLst/>
          </a:prstGeom>
          <a:solidFill>
            <a:srgbClr val="2F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607040" y="5303520"/>
            <a:ext cx="2286000" cy="2286000"/>
          </a:xfrm>
          <a:prstGeom prst="ellipse">
            <a:avLst/>
          </a:prstGeom>
          <a:solidFill>
            <a:srgbClr val="D9E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874519"/>
            <a:ext cx="8778240" cy="1325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900" b="1">
                <a:solidFill>
                  <a:srgbClr val="FFFFFF"/>
                </a:solidFill>
                <a:latin typeface="Aptos"/>
              </a:rPr>
              <a:t>AI in Organizations: Opportunities and Challenges</a:t>
            </a:r>
          </a:p>
        </p:txBody>
      </p:sp>
      <p:sp>
        <p:nvSpPr>
          <p:cNvPr id="6" name="Rectangle 5"/>
          <p:cNvSpPr/>
          <p:nvPr/>
        </p:nvSpPr>
        <p:spPr>
          <a:xfrm>
            <a:off x="868680" y="3383280"/>
            <a:ext cx="1051560" cy="64008"/>
          </a:xfrm>
          <a:prstGeom prst="rect">
            <a:avLst/>
          </a:prstGeom>
          <a:solidFill>
            <a:srgbClr val="2F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3703320"/>
            <a:ext cx="8046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0">
                <a:solidFill>
                  <a:srgbClr val="D9EAF7"/>
                </a:solidFill>
                <a:latin typeface="Aptos"/>
              </a:rPr>
              <a:t>Strategic Insights for Executive Leadership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4572000"/>
            <a:ext cx="80467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Aptos"/>
              </a:rPr>
              <a:t>This presentation explores how artificial intelligence is transforming organizational operations, highlighting key opportunities, challenges, and strategic considerations for successful AI adoption.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38360" y="5989320"/>
            <a:ext cx="17373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FFFFFF"/>
                </a:solidFill>
                <a:latin typeface="Aptos"/>
              </a:rPr>
              <a:t>EXECUTIVE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20040"/>
            <a:ext cx="10515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2F75B5"/>
                </a:solidFill>
                <a:latin typeface="Aptos"/>
              </a:rPr>
              <a:t>OPPORTUNITIES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502920"/>
            <a:ext cx="1069848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>
                <a:solidFill>
                  <a:srgbClr val="1F2937"/>
                </a:solidFill>
                <a:latin typeface="Aptos"/>
              </a:rPr>
              <a:t>How AI is Transforming Organizations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124712"/>
            <a:ext cx="731520" cy="50292"/>
          </a:xfrm>
          <a:prstGeom prst="rect">
            <a:avLst/>
          </a:prstGeom>
          <a:solidFill>
            <a:srgbClr val="2F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0" y="384048"/>
            <a:ext cx="594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>
                <a:solidFill>
                  <a:srgbClr val="6B7280"/>
                </a:solidFill>
                <a:latin typeface="Aptos"/>
              </a:rPr>
              <a:t>02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94944" y="1554480"/>
            <a:ext cx="5212080" cy="1828800"/>
          </a:xfrm>
          <a:prstGeom prst="roundRect">
            <a:avLst/>
          </a:prstGeom>
          <a:solidFill>
            <a:srgbClr val="E1E6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58368" y="1508760"/>
            <a:ext cx="5212080" cy="1828800"/>
          </a:xfrm>
          <a:prstGeom prst="roundRect">
            <a:avLst/>
          </a:prstGeom>
          <a:solidFill>
            <a:srgbClr val="F3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508760"/>
            <a:ext cx="64008" cy="1828800"/>
          </a:xfrm>
          <a:prstGeom prst="rect">
            <a:avLst/>
          </a:prstGeom>
          <a:solidFill>
            <a:srgbClr val="2F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32688" y="1783080"/>
            <a:ext cx="502920" cy="502920"/>
          </a:xfrm>
          <a:prstGeom prst="ellipse">
            <a:avLst/>
          </a:prstGeom>
          <a:solidFill>
            <a:srgbClr val="2F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1792224"/>
            <a:ext cx="502920" cy="4846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72768" y="1783080"/>
            <a:ext cx="4023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F2937"/>
                </a:solidFill>
                <a:latin typeface="Aptos"/>
              </a:rPr>
              <a:t>Automation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78407" y="2350008"/>
            <a:ext cx="4572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Aptos"/>
              </a:rPr>
              <a:t>AI enables automation of repetitive tasks, increasing efficiency.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81344" y="1554480"/>
            <a:ext cx="5212080" cy="1828800"/>
          </a:xfrm>
          <a:prstGeom prst="roundRect">
            <a:avLst/>
          </a:prstGeom>
          <a:solidFill>
            <a:srgbClr val="E1E6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144768" y="1508760"/>
            <a:ext cx="5212080" cy="1828800"/>
          </a:xfrm>
          <a:prstGeom prst="roundRect">
            <a:avLst/>
          </a:prstGeom>
          <a:solidFill>
            <a:srgbClr val="F3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44768" y="1508760"/>
            <a:ext cx="64008" cy="1828800"/>
          </a:xfrm>
          <a:prstGeom prst="rect">
            <a:avLst/>
          </a:prstGeom>
          <a:solidFill>
            <a:srgbClr val="2F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419088" y="1783080"/>
            <a:ext cx="502920" cy="502920"/>
          </a:xfrm>
          <a:prstGeom prst="ellipse">
            <a:avLst/>
          </a:prstGeom>
          <a:solidFill>
            <a:srgbClr val="2F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19088" y="1792224"/>
            <a:ext cx="502920" cy="4846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↗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59168" y="1783080"/>
            <a:ext cx="4023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F2937"/>
                </a:solidFill>
                <a:latin typeface="Aptos"/>
              </a:rPr>
              <a:t>Data Analysis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64807" y="2350008"/>
            <a:ext cx="4572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Aptos"/>
              </a:rPr>
              <a:t>AI can analyze large amounts of data to uncover insights.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94944" y="3703320"/>
            <a:ext cx="5212080" cy="1828800"/>
          </a:xfrm>
          <a:prstGeom prst="roundRect">
            <a:avLst/>
          </a:prstGeom>
          <a:solidFill>
            <a:srgbClr val="E1E6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58368" y="3657600"/>
            <a:ext cx="5212080" cy="1828800"/>
          </a:xfrm>
          <a:prstGeom prst="roundRect">
            <a:avLst/>
          </a:prstGeom>
          <a:solidFill>
            <a:srgbClr val="F3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58368" y="3657600"/>
            <a:ext cx="64008" cy="1828800"/>
          </a:xfrm>
          <a:prstGeom prst="rect">
            <a:avLst/>
          </a:prstGeom>
          <a:solidFill>
            <a:srgbClr val="2F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32688" y="3931920"/>
            <a:ext cx="502920" cy="502920"/>
          </a:xfrm>
          <a:prstGeom prst="ellipse">
            <a:avLst/>
          </a:prstGeom>
          <a:solidFill>
            <a:srgbClr val="2F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32688" y="3941063"/>
            <a:ext cx="502920" cy="4846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⚙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72768" y="3931920"/>
            <a:ext cx="4023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F2937"/>
                </a:solidFill>
                <a:latin typeface="Aptos"/>
              </a:rPr>
              <a:t>Decision-Making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78407" y="4498848"/>
            <a:ext cx="4572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Aptos"/>
              </a:rPr>
              <a:t>AI supports improved decision-making through data-driven insights.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81344" y="3703320"/>
            <a:ext cx="5212080" cy="1828800"/>
          </a:xfrm>
          <a:prstGeom prst="roundRect">
            <a:avLst/>
          </a:prstGeom>
          <a:solidFill>
            <a:srgbClr val="E1E6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144768" y="3657600"/>
            <a:ext cx="5212080" cy="1828800"/>
          </a:xfrm>
          <a:prstGeom prst="roundRect">
            <a:avLst/>
          </a:prstGeom>
          <a:solidFill>
            <a:srgbClr val="F3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144768" y="3657600"/>
            <a:ext cx="64008" cy="1828800"/>
          </a:xfrm>
          <a:prstGeom prst="rect">
            <a:avLst/>
          </a:prstGeom>
          <a:solidFill>
            <a:srgbClr val="2F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419088" y="3931920"/>
            <a:ext cx="502920" cy="502920"/>
          </a:xfrm>
          <a:prstGeom prst="ellipse">
            <a:avLst/>
          </a:prstGeom>
          <a:solidFill>
            <a:srgbClr val="2F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19088" y="3941063"/>
            <a:ext cx="502920" cy="4846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◆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59168" y="3931920"/>
            <a:ext cx="4023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F2937"/>
                </a:solidFill>
                <a:latin typeface="Aptos"/>
              </a:rPr>
              <a:t>Employee Support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64807" y="4498848"/>
            <a:ext cx="4572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Aptos"/>
              </a:rPr>
              <a:t>AI tools can assist employees in their daily tasks.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58368" y="5806440"/>
            <a:ext cx="10881360" cy="502920"/>
          </a:xfrm>
          <a:prstGeom prst="roundRect">
            <a:avLst/>
          </a:prstGeom>
          <a:solidFill>
            <a:srgbClr val="F3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58368" y="5806440"/>
            <a:ext cx="73152" cy="502920"/>
          </a:xfrm>
          <a:prstGeom prst="rect">
            <a:avLst/>
          </a:prstGeom>
          <a:solidFill>
            <a:srgbClr val="2F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86968" y="5879592"/>
            <a:ext cx="10469880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Aptos"/>
              </a:rPr>
              <a:t>AI offers significant opportunities to enhance efficiency, decision-making, and employee support.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8368" y="6473952"/>
            <a:ext cx="5486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B7280"/>
                </a:solidFill>
                <a:latin typeface="Aptos"/>
              </a:rPr>
              <a:t>Source content on AI opportunities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20040"/>
            <a:ext cx="10515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2F75B5"/>
                </a:solidFill>
                <a:latin typeface="Aptos"/>
              </a:rPr>
              <a:t>CHALLENGES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502920"/>
            <a:ext cx="1069848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>
                <a:solidFill>
                  <a:srgbClr val="1F2937"/>
                </a:solidFill>
                <a:latin typeface="Aptos"/>
              </a:rPr>
              <a:t>Key Challenges in AI Adoption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124712"/>
            <a:ext cx="731520" cy="50292"/>
          </a:xfrm>
          <a:prstGeom prst="rect">
            <a:avLst/>
          </a:prstGeom>
          <a:solidFill>
            <a:srgbClr val="2F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0" y="384048"/>
            <a:ext cx="594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>
                <a:solidFill>
                  <a:srgbClr val="6B7280"/>
                </a:solidFill>
                <a:latin typeface="Aptos"/>
              </a:rPr>
              <a:t>03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600200"/>
            <a:ext cx="3657600" cy="3886200"/>
          </a:xfrm>
          <a:prstGeom prst="roundRect">
            <a:avLst/>
          </a:prstGeom>
          <a:solidFill>
            <a:srgbClr val="F3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874519" y="2148840"/>
            <a:ext cx="1280160" cy="1280160"/>
          </a:xfrm>
          <a:prstGeom prst="ellipse">
            <a:avLst/>
          </a:prstGeom>
          <a:solidFill>
            <a:srgbClr val="17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74519" y="2450592"/>
            <a:ext cx="12801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300" b="1">
                <a:solidFill>
                  <a:srgbClr val="FFFFFF"/>
                </a:solidFill>
                <a:latin typeface="Aptos"/>
              </a:rPr>
              <a:t>AI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3703320"/>
            <a:ext cx="27432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000" b="1">
                <a:solidFill>
                  <a:srgbClr val="1F2937"/>
                </a:solidFill>
                <a:latin typeface="Aptos"/>
              </a:rPr>
              <a:t>Responsible</a:t>
            </a:r>
            <a:br/>
            <a:r>
              <a:t>Implementation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928616" y="1645920"/>
            <a:ext cx="3246120" cy="1691640"/>
          </a:xfrm>
          <a:prstGeom prst="roundRect">
            <a:avLst/>
          </a:prstGeom>
          <a:solidFill>
            <a:srgbClr val="E1E6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892040" y="1600200"/>
            <a:ext cx="3246120" cy="1691640"/>
          </a:xfrm>
          <a:prstGeom prst="roundRect">
            <a:avLst/>
          </a:prstGeom>
          <a:solidFill>
            <a:srgbClr val="F3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892040" y="1600200"/>
            <a:ext cx="64008" cy="1691640"/>
          </a:xfrm>
          <a:prstGeom prst="rect">
            <a:avLst/>
          </a:prstGeom>
          <a:solidFill>
            <a:srgbClr val="2F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5166359" y="1874519"/>
            <a:ext cx="502920" cy="502920"/>
          </a:xfrm>
          <a:prstGeom prst="ellipse">
            <a:avLst/>
          </a:prstGeom>
          <a:solidFill>
            <a:srgbClr val="2F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166359" y="1883663"/>
            <a:ext cx="502920" cy="4846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06440" y="1874519"/>
            <a:ext cx="2057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F2937"/>
                </a:solidFill>
                <a:latin typeface="Aptos"/>
              </a:rPr>
              <a:t>Data Privacy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12079" y="2441448"/>
            <a:ext cx="2606039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Aptos"/>
              </a:rPr>
              <a:t>Protecting sensitive data is a critical concern in AI implementation.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357615" y="1645920"/>
            <a:ext cx="3246120" cy="1691640"/>
          </a:xfrm>
          <a:prstGeom prst="roundRect">
            <a:avLst/>
          </a:prstGeom>
          <a:solidFill>
            <a:srgbClr val="E1E6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321040" y="1600200"/>
            <a:ext cx="3246120" cy="1691640"/>
          </a:xfrm>
          <a:prstGeom prst="roundRect">
            <a:avLst/>
          </a:prstGeom>
          <a:solidFill>
            <a:srgbClr val="F3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321040" y="1600200"/>
            <a:ext cx="64008" cy="1691640"/>
          </a:xfrm>
          <a:prstGeom prst="rect">
            <a:avLst/>
          </a:prstGeom>
          <a:solidFill>
            <a:srgbClr val="2F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595360" y="1874519"/>
            <a:ext cx="502920" cy="502920"/>
          </a:xfrm>
          <a:prstGeom prst="ellipse">
            <a:avLst/>
          </a:prstGeom>
          <a:solidFill>
            <a:srgbClr val="2F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95360" y="1883663"/>
            <a:ext cx="502920" cy="4846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↗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35440" y="1874519"/>
            <a:ext cx="2057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F2937"/>
                </a:solidFill>
                <a:latin typeface="Aptos"/>
              </a:rPr>
              <a:t>Governance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41080" y="2441448"/>
            <a:ext cx="2606039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Aptos"/>
              </a:rPr>
              <a:t>Establishing responsible AI governance frameworks is essential.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928616" y="3611879"/>
            <a:ext cx="3246120" cy="1691640"/>
          </a:xfrm>
          <a:prstGeom prst="roundRect">
            <a:avLst/>
          </a:prstGeom>
          <a:solidFill>
            <a:srgbClr val="E1E6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4892040" y="3566160"/>
            <a:ext cx="3246120" cy="1691640"/>
          </a:xfrm>
          <a:prstGeom prst="roundRect">
            <a:avLst/>
          </a:prstGeom>
          <a:solidFill>
            <a:srgbClr val="F3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892040" y="3566160"/>
            <a:ext cx="64008" cy="1691640"/>
          </a:xfrm>
          <a:prstGeom prst="rect">
            <a:avLst/>
          </a:prstGeom>
          <a:solidFill>
            <a:srgbClr val="2F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5166359" y="3840480"/>
            <a:ext cx="502920" cy="502920"/>
          </a:xfrm>
          <a:prstGeom prst="ellipse">
            <a:avLst/>
          </a:prstGeom>
          <a:solidFill>
            <a:srgbClr val="2F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166359" y="3849624"/>
            <a:ext cx="502920" cy="4846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⚙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806440" y="3840480"/>
            <a:ext cx="2057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F2937"/>
                </a:solidFill>
                <a:latin typeface="Aptos"/>
              </a:rPr>
              <a:t>Implementation Costs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212079" y="4407408"/>
            <a:ext cx="2606039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Aptos"/>
              </a:rPr>
              <a:t>AI adoption requires significant investment in technology and infrastructure.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357615" y="3611879"/>
            <a:ext cx="3246120" cy="1691640"/>
          </a:xfrm>
          <a:prstGeom prst="roundRect">
            <a:avLst/>
          </a:prstGeom>
          <a:solidFill>
            <a:srgbClr val="E1E6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8321040" y="3566160"/>
            <a:ext cx="3246120" cy="1691640"/>
          </a:xfrm>
          <a:prstGeom prst="roundRect">
            <a:avLst/>
          </a:prstGeom>
          <a:solidFill>
            <a:srgbClr val="F3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321040" y="3566160"/>
            <a:ext cx="64008" cy="1691640"/>
          </a:xfrm>
          <a:prstGeom prst="rect">
            <a:avLst/>
          </a:prstGeom>
          <a:solidFill>
            <a:srgbClr val="2F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8595360" y="3840480"/>
            <a:ext cx="502920" cy="502920"/>
          </a:xfrm>
          <a:prstGeom prst="ellipse">
            <a:avLst/>
          </a:prstGeom>
          <a:solidFill>
            <a:srgbClr val="2F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595360" y="3849624"/>
            <a:ext cx="502920" cy="4846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◆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235440" y="3840480"/>
            <a:ext cx="2057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F2937"/>
                </a:solidFill>
                <a:latin typeface="Aptos"/>
              </a:rPr>
              <a:t>Employee Training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641080" y="4407408"/>
            <a:ext cx="2606039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Aptos"/>
              </a:rPr>
              <a:t>Workforce needs training to adapt to AI-driven changes.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58368" y="5806440"/>
            <a:ext cx="10881360" cy="502920"/>
          </a:xfrm>
          <a:prstGeom prst="roundRect">
            <a:avLst/>
          </a:prstGeom>
          <a:solidFill>
            <a:srgbClr val="F3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58368" y="5806440"/>
            <a:ext cx="73152" cy="502920"/>
          </a:xfrm>
          <a:prstGeom prst="rect">
            <a:avLst/>
          </a:prstGeom>
          <a:solidFill>
            <a:srgbClr val="2F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86968" y="5879592"/>
            <a:ext cx="10469880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Aptos"/>
              </a:rPr>
              <a:t>Successful AI adoption requires addressing data privacy, governance, costs, and training needs.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58368" y="6473952"/>
            <a:ext cx="5486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B7280"/>
                </a:solidFill>
                <a:latin typeface="Aptos"/>
              </a:rPr>
              <a:t>Source content on AI challenges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20040"/>
            <a:ext cx="10515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2F75B5"/>
                </a:solidFill>
                <a:latin typeface="Aptos"/>
              </a:rPr>
              <a:t>STRATEGY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502920"/>
            <a:ext cx="1069848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>
                <a:solidFill>
                  <a:srgbClr val="1F2937"/>
                </a:solidFill>
                <a:latin typeface="Aptos"/>
              </a:rPr>
              <a:t>Key Recommendations for AI Adoption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124712"/>
            <a:ext cx="731520" cy="50292"/>
          </a:xfrm>
          <a:prstGeom prst="rect">
            <a:avLst/>
          </a:prstGeom>
          <a:solidFill>
            <a:srgbClr val="2F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0" y="384048"/>
            <a:ext cx="594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>
                <a:solidFill>
                  <a:srgbClr val="6B7280"/>
                </a:solidFill>
                <a:latin typeface="Aptos"/>
              </a:rPr>
              <a:t>04</a:t>
            </a:r>
          </a:p>
        </p:txBody>
      </p:sp>
      <p:sp>
        <p:nvSpPr>
          <p:cNvPr id="6" name="Oval 5"/>
          <p:cNvSpPr/>
          <p:nvPr/>
        </p:nvSpPr>
        <p:spPr>
          <a:xfrm>
            <a:off x="731520" y="1600200"/>
            <a:ext cx="502920" cy="502920"/>
          </a:xfrm>
          <a:prstGeom prst="ellipse">
            <a:avLst/>
          </a:prstGeom>
          <a:solidFill>
            <a:srgbClr val="17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636776"/>
            <a:ext cx="502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08760" y="1581912"/>
            <a:ext cx="34747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1F2937"/>
                </a:solidFill>
                <a:latin typeface="Aptos"/>
              </a:rPr>
              <a:t>Identify Valuable Use Cases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1581912"/>
            <a:ext cx="65836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Aptos"/>
              </a:rPr>
              <a:t>Focus on AI applications that deliver clear business value.</a:t>
            </a:r>
          </a:p>
        </p:txBody>
      </p:sp>
      <p:sp>
        <p:nvSpPr>
          <p:cNvPr id="10" name="Oval 9"/>
          <p:cNvSpPr/>
          <p:nvPr/>
        </p:nvSpPr>
        <p:spPr>
          <a:xfrm>
            <a:off x="731520" y="2423160"/>
            <a:ext cx="502920" cy="502920"/>
          </a:xfrm>
          <a:prstGeom prst="ellipse">
            <a:avLst/>
          </a:prstGeom>
          <a:solidFill>
            <a:srgbClr val="17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459736"/>
            <a:ext cx="502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08760" y="2404872"/>
            <a:ext cx="34747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1F2937"/>
                </a:solidFill>
                <a:latin typeface="Aptos"/>
              </a:rPr>
              <a:t>Establish Governance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2404872"/>
            <a:ext cx="65836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Aptos"/>
              </a:rPr>
              <a:t>Create frameworks to ensure responsible AI implementation.</a:t>
            </a:r>
          </a:p>
        </p:txBody>
      </p:sp>
      <p:sp>
        <p:nvSpPr>
          <p:cNvPr id="14" name="Oval 13"/>
          <p:cNvSpPr/>
          <p:nvPr/>
        </p:nvSpPr>
        <p:spPr>
          <a:xfrm>
            <a:off x="731520" y="3246120"/>
            <a:ext cx="502920" cy="502920"/>
          </a:xfrm>
          <a:prstGeom prst="ellipse">
            <a:avLst/>
          </a:prstGeom>
          <a:solidFill>
            <a:srgbClr val="17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3282696"/>
            <a:ext cx="502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08760" y="3227832"/>
            <a:ext cx="34747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1F2937"/>
                </a:solidFill>
                <a:latin typeface="Aptos"/>
              </a:rPr>
              <a:t>Protect Sensitive Data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3227832"/>
            <a:ext cx="65836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Aptos"/>
              </a:rPr>
              <a:t>Implement robust data privacy measures.</a:t>
            </a:r>
          </a:p>
        </p:txBody>
      </p:sp>
      <p:sp>
        <p:nvSpPr>
          <p:cNvPr id="18" name="Oval 17"/>
          <p:cNvSpPr/>
          <p:nvPr/>
        </p:nvSpPr>
        <p:spPr>
          <a:xfrm>
            <a:off x="731520" y="4069080"/>
            <a:ext cx="502920" cy="502920"/>
          </a:xfrm>
          <a:prstGeom prst="ellipse">
            <a:avLst/>
          </a:prstGeom>
          <a:solidFill>
            <a:srgbClr val="17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4105656"/>
            <a:ext cx="502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08760" y="4050792"/>
            <a:ext cx="34747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1F2937"/>
                </a:solidFill>
                <a:latin typeface="Aptos"/>
              </a:rPr>
              <a:t>Prepare Employees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0" y="4050792"/>
            <a:ext cx="65836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Aptos"/>
              </a:rPr>
              <a:t>Invest in training to help workforce adapt to AI-driven changes.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" y="5806440"/>
            <a:ext cx="10881360" cy="502920"/>
          </a:xfrm>
          <a:prstGeom prst="roundRect">
            <a:avLst/>
          </a:prstGeom>
          <a:solidFill>
            <a:srgbClr val="F3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58368" y="5806440"/>
            <a:ext cx="73152" cy="502920"/>
          </a:xfrm>
          <a:prstGeom prst="rect">
            <a:avLst/>
          </a:prstGeom>
          <a:solidFill>
            <a:srgbClr val="2F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86968" y="5879592"/>
            <a:ext cx="10469880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Aptos"/>
              </a:rPr>
              <a:t>Balancing opportunities with responsible implementation is key to successful AI adoption.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" y="6473952"/>
            <a:ext cx="5486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B7280"/>
                </a:solidFill>
                <a:latin typeface="Aptos"/>
              </a:rPr>
              <a:t>Source content on recommendations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365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F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8580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D9EAF7"/>
                </a:solidFill>
                <a:latin typeface="Aptos"/>
              </a:rP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98755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Aptos"/>
              </a:rPr>
              <a:t>Strategic AI Adoption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468880"/>
            <a:ext cx="10241280" cy="2057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880360"/>
            <a:ext cx="9418320" cy="12344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0">
                <a:solidFill>
                  <a:srgbClr val="1F2937"/>
                </a:solidFill>
                <a:latin typeface="Aptos"/>
              </a:rPr>
              <a:t>AI presents transformative opportunities but requires careful implementation to address challenges.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5074920"/>
            <a:ext cx="98755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D9EAF7"/>
                </a:solidFill>
                <a:latin typeface="Aptos"/>
              </a:rPr>
              <a:t>A balanced approach to AI adoption maximizes benefits while mitigating risks.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6473952"/>
            <a:ext cx="5486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B7280"/>
                </a:solidFill>
                <a:latin typeface="Aptos"/>
              </a:rPr>
              <a:t>Source content conclusion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