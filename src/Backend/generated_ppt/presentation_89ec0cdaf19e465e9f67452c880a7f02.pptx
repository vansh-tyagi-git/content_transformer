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1097280"/>
            <a:ext cx="4114800" cy="411480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303520"/>
            <a:ext cx="2286000" cy="2286000"/>
          </a:xfrm>
          <a:prstGeom prst="ellipse">
            <a:avLst/>
          </a:prstGeom>
          <a:solidFill>
            <a:srgbClr val="D9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8778240" cy="1325880"/>
          </a:xfrm>
          <a:prstGeom prst="rect">
            <a:avLst/>
          </a:prstGeom>
          <a:noFill/>
        </p:spPr>
        <p:txBody>
          <a:bodyPr wrap="square" lIns="0" rIns="0" tIns="0" bIns="0" anchor="ctr">
            <a:spAutoFit/>
          </a:bodyPr>
          <a:lstStyle/>
          <a:p>
            <a:pPr algn="l"/>
            <a:r>
              <a:rPr sz="3900" b="1">
                <a:solidFill>
                  <a:srgbClr val="FFFFFF"/>
                </a:solidFill>
                <a:latin typeface="Aptos"/>
              </a:rPr>
              <a:t>AI in the Energy Sector: Transforming Modern Electricity Systems</a:t>
            </a:r>
          </a:p>
        </p:txBody>
      </p:sp>
      <p:sp>
        <p:nvSpPr>
          <p:cNvPr id="6" name="Rectangle 5"/>
          <p:cNvSpPr/>
          <p:nvPr/>
        </p:nvSpPr>
        <p:spPr>
          <a:xfrm>
            <a:off x="868680" y="3383280"/>
            <a:ext cx="1051560" cy="64008"/>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703320"/>
            <a:ext cx="8046720" cy="640080"/>
          </a:xfrm>
          <a:prstGeom prst="rect">
            <a:avLst/>
          </a:prstGeom>
          <a:noFill/>
        </p:spPr>
        <p:txBody>
          <a:bodyPr wrap="square" lIns="0" rIns="0" tIns="0" bIns="0" anchor="t">
            <a:spAutoFit/>
          </a:bodyPr>
          <a:lstStyle/>
          <a:p>
            <a:pPr algn="l"/>
            <a:r>
              <a:rPr sz="1900" b="0">
                <a:solidFill>
                  <a:srgbClr val="D9EAF7"/>
                </a:solidFill>
                <a:latin typeface="Aptos"/>
              </a:rPr>
              <a:t>Enhancing Forecasting, Optimization, and Grid Management</a:t>
            </a:r>
          </a:p>
        </p:txBody>
      </p:sp>
      <p:sp>
        <p:nvSpPr>
          <p:cNvPr id="8" name="TextBox 7"/>
          <p:cNvSpPr txBox="1"/>
          <p:nvPr/>
        </p:nvSpPr>
        <p:spPr>
          <a:xfrm>
            <a:off x="868680" y="4572000"/>
            <a:ext cx="8046720" cy="822960"/>
          </a:xfrm>
          <a:prstGeom prst="rect">
            <a:avLst/>
          </a:prstGeom>
          <a:noFill/>
        </p:spPr>
        <p:txBody>
          <a:bodyPr wrap="square" lIns="0" rIns="0" tIns="0" bIns="0" anchor="t">
            <a:spAutoFit/>
          </a:bodyPr>
          <a:lstStyle/>
          <a:p>
            <a:pPr algn="l"/>
            <a:r>
              <a:rPr sz="1300" b="0">
                <a:solidFill>
                  <a:srgbClr val="FFFFFF"/>
                </a:solidFill>
                <a:latin typeface="Aptos"/>
              </a:rPr>
              <a:t>This presentation explores how artificial intelligence is revolutionizing the energy sector by improving renewable energy forecasting, demand prediction, resource optimization, and predictive maintenance. It highlights AI's role in making electricity systems more flexible and efficient while addressing key challenges.</a:t>
            </a:r>
          </a:p>
        </p:txBody>
      </p:sp>
      <p:sp>
        <p:nvSpPr>
          <p:cNvPr id="9" name="TextBox 8"/>
          <p:cNvSpPr txBox="1"/>
          <p:nvPr/>
        </p:nvSpPr>
        <p:spPr>
          <a:xfrm>
            <a:off x="9738360" y="5989320"/>
            <a:ext cx="1737360" cy="228600"/>
          </a:xfrm>
          <a:prstGeom prst="rect">
            <a:avLst/>
          </a:prstGeom>
          <a:noFill/>
        </p:spPr>
        <p:txBody>
          <a:bodyPr wrap="square" lIns="0" rIns="0" tIns="0" bIns="0" anchor="t">
            <a:spAutoFit/>
          </a:bodyPr>
          <a:lstStyle/>
          <a:p>
            <a:pPr algn="r"/>
            <a:r>
              <a:rPr sz="800" b="1">
                <a:solidFill>
                  <a:srgbClr val="FFFFFF"/>
                </a:solidFill>
                <a:latin typeface="Aptos"/>
              </a:rPr>
              <a:t>EXECUTIVE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OVERVIEW</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Key Applications of AI in Energy</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02</a:t>
            </a:r>
          </a:p>
        </p:txBody>
      </p:sp>
      <p:sp>
        <p:nvSpPr>
          <p:cNvPr id="6" name="Rounded Rectangle 5"/>
          <p:cNvSpPr/>
          <p:nvPr/>
        </p:nvSpPr>
        <p:spPr>
          <a:xfrm>
            <a:off x="694944" y="1554480"/>
            <a:ext cx="5212080" cy="182880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508760"/>
            <a:ext cx="5212080" cy="182880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08760"/>
            <a:ext cx="64008" cy="1828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1783080"/>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92224"/>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1" name="TextBox 10"/>
          <p:cNvSpPr txBox="1"/>
          <p:nvPr/>
        </p:nvSpPr>
        <p:spPr>
          <a:xfrm>
            <a:off x="1572768" y="1783080"/>
            <a:ext cx="4023360" cy="457200"/>
          </a:xfrm>
          <a:prstGeom prst="rect">
            <a:avLst/>
          </a:prstGeom>
          <a:noFill/>
        </p:spPr>
        <p:txBody>
          <a:bodyPr wrap="square" lIns="0" rIns="0" tIns="0" bIns="0" anchor="t">
            <a:spAutoFit/>
          </a:bodyPr>
          <a:lstStyle/>
          <a:p>
            <a:pPr algn="l"/>
            <a:r>
              <a:rPr sz="1500" b="1">
                <a:solidFill>
                  <a:srgbClr val="1F2937"/>
                </a:solidFill>
                <a:latin typeface="Aptos"/>
              </a:rPr>
              <a:t>Renewable Energy Forecasting</a:t>
            </a:r>
          </a:p>
        </p:txBody>
      </p:sp>
      <p:sp>
        <p:nvSpPr>
          <p:cNvPr id="12" name="TextBox 11"/>
          <p:cNvSpPr txBox="1"/>
          <p:nvPr/>
        </p:nvSpPr>
        <p:spPr>
          <a:xfrm>
            <a:off x="978407" y="2350008"/>
            <a:ext cx="4572000" cy="640080"/>
          </a:xfrm>
          <a:prstGeom prst="rect">
            <a:avLst/>
          </a:prstGeom>
          <a:noFill/>
        </p:spPr>
        <p:txBody>
          <a:bodyPr wrap="square" lIns="0" rIns="0" tIns="0" bIns="0" anchor="t">
            <a:spAutoFit/>
          </a:bodyPr>
          <a:lstStyle/>
          <a:p>
            <a:pPr algn="l"/>
            <a:r>
              <a:rPr sz="1100" b="0">
                <a:solidFill>
                  <a:srgbClr val="6B7280"/>
                </a:solidFill>
                <a:latin typeface="Aptos"/>
              </a:rPr>
              <a:t>AI improves prediction of solar and wind power output by analyzing weather and historical data.</a:t>
            </a:r>
          </a:p>
        </p:txBody>
      </p:sp>
      <p:sp>
        <p:nvSpPr>
          <p:cNvPr id="13" name="Rounded Rectangle 12"/>
          <p:cNvSpPr/>
          <p:nvPr/>
        </p:nvSpPr>
        <p:spPr>
          <a:xfrm>
            <a:off x="6181344" y="1554480"/>
            <a:ext cx="5212080" cy="182880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44768" y="1508760"/>
            <a:ext cx="5212080" cy="182880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508760"/>
            <a:ext cx="64008" cy="1828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19088" y="1783080"/>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792224"/>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8" name="TextBox 17"/>
          <p:cNvSpPr txBox="1"/>
          <p:nvPr/>
        </p:nvSpPr>
        <p:spPr>
          <a:xfrm>
            <a:off x="7059168" y="1783080"/>
            <a:ext cx="4023360" cy="457200"/>
          </a:xfrm>
          <a:prstGeom prst="rect">
            <a:avLst/>
          </a:prstGeom>
          <a:noFill/>
        </p:spPr>
        <p:txBody>
          <a:bodyPr wrap="square" lIns="0" rIns="0" tIns="0" bIns="0" anchor="t">
            <a:spAutoFit/>
          </a:bodyPr>
          <a:lstStyle/>
          <a:p>
            <a:pPr algn="l"/>
            <a:r>
              <a:rPr sz="1500" b="1">
                <a:solidFill>
                  <a:srgbClr val="1F2937"/>
                </a:solidFill>
                <a:latin typeface="Aptos"/>
              </a:rPr>
              <a:t>Demand Forecasting</a:t>
            </a:r>
          </a:p>
        </p:txBody>
      </p:sp>
      <p:sp>
        <p:nvSpPr>
          <p:cNvPr id="19" name="TextBox 18"/>
          <p:cNvSpPr txBox="1"/>
          <p:nvPr/>
        </p:nvSpPr>
        <p:spPr>
          <a:xfrm>
            <a:off x="6464807" y="2350008"/>
            <a:ext cx="4572000" cy="640080"/>
          </a:xfrm>
          <a:prstGeom prst="rect">
            <a:avLst/>
          </a:prstGeom>
          <a:noFill/>
        </p:spPr>
        <p:txBody>
          <a:bodyPr wrap="square" lIns="0" rIns="0" tIns="0" bIns="0" anchor="t">
            <a:spAutoFit/>
          </a:bodyPr>
          <a:lstStyle/>
          <a:p>
            <a:pPr algn="l"/>
            <a:r>
              <a:rPr sz="1100" b="0">
                <a:solidFill>
                  <a:srgbClr val="6B7280"/>
                </a:solidFill>
                <a:latin typeface="Aptos"/>
              </a:rPr>
              <a:t>AI estimates future electricity demand by analyzing consumption patterns and external factors.</a:t>
            </a:r>
          </a:p>
        </p:txBody>
      </p:sp>
      <p:sp>
        <p:nvSpPr>
          <p:cNvPr id="20" name="Rounded Rectangle 19"/>
          <p:cNvSpPr/>
          <p:nvPr/>
        </p:nvSpPr>
        <p:spPr>
          <a:xfrm>
            <a:off x="694944" y="3703320"/>
            <a:ext cx="5212080" cy="182880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3657600"/>
            <a:ext cx="5212080" cy="182880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657600"/>
            <a:ext cx="64008" cy="1828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2688" y="3931920"/>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39410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25" name="TextBox 24"/>
          <p:cNvSpPr txBox="1"/>
          <p:nvPr/>
        </p:nvSpPr>
        <p:spPr>
          <a:xfrm>
            <a:off x="1572768" y="3931920"/>
            <a:ext cx="4023360" cy="457200"/>
          </a:xfrm>
          <a:prstGeom prst="rect">
            <a:avLst/>
          </a:prstGeom>
          <a:noFill/>
        </p:spPr>
        <p:txBody>
          <a:bodyPr wrap="square" lIns="0" rIns="0" tIns="0" bIns="0" anchor="t">
            <a:spAutoFit/>
          </a:bodyPr>
          <a:lstStyle/>
          <a:p>
            <a:pPr algn="l"/>
            <a:r>
              <a:rPr sz="1500" b="1">
                <a:solidFill>
                  <a:srgbClr val="1F2937"/>
                </a:solidFill>
                <a:latin typeface="Aptos"/>
              </a:rPr>
              <a:t>Resource Optimization</a:t>
            </a:r>
          </a:p>
        </p:txBody>
      </p:sp>
      <p:sp>
        <p:nvSpPr>
          <p:cNvPr id="26" name="TextBox 25"/>
          <p:cNvSpPr txBox="1"/>
          <p:nvPr/>
        </p:nvSpPr>
        <p:spPr>
          <a:xfrm>
            <a:off x="978407" y="4498848"/>
            <a:ext cx="4572000" cy="640080"/>
          </a:xfrm>
          <a:prstGeom prst="rect">
            <a:avLst/>
          </a:prstGeom>
          <a:noFill/>
        </p:spPr>
        <p:txBody>
          <a:bodyPr wrap="square" lIns="0" rIns="0" tIns="0" bIns="0" anchor="t">
            <a:spAutoFit/>
          </a:bodyPr>
          <a:lstStyle/>
          <a:p>
            <a:pPr algn="l"/>
            <a:r>
              <a:rPr sz="1100" b="0">
                <a:solidFill>
                  <a:srgbClr val="6B7280"/>
                </a:solidFill>
                <a:latin typeface="Aptos"/>
              </a:rPr>
              <a:t>AI determines optimal operation times for generation units and batteries.</a:t>
            </a:r>
          </a:p>
        </p:txBody>
      </p:sp>
      <p:sp>
        <p:nvSpPr>
          <p:cNvPr id="27" name="Rounded Rectangle 26"/>
          <p:cNvSpPr/>
          <p:nvPr/>
        </p:nvSpPr>
        <p:spPr>
          <a:xfrm>
            <a:off x="6181344" y="3703320"/>
            <a:ext cx="5212080" cy="182880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44768" y="3657600"/>
            <a:ext cx="5212080" cy="182880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657600"/>
            <a:ext cx="64008" cy="1828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19088" y="3931920"/>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39410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32" name="TextBox 31"/>
          <p:cNvSpPr txBox="1"/>
          <p:nvPr/>
        </p:nvSpPr>
        <p:spPr>
          <a:xfrm>
            <a:off x="7059168" y="3931920"/>
            <a:ext cx="4023360" cy="457200"/>
          </a:xfrm>
          <a:prstGeom prst="rect">
            <a:avLst/>
          </a:prstGeom>
          <a:noFill/>
        </p:spPr>
        <p:txBody>
          <a:bodyPr wrap="square" lIns="0" rIns="0" tIns="0" bIns="0" anchor="t">
            <a:spAutoFit/>
          </a:bodyPr>
          <a:lstStyle/>
          <a:p>
            <a:pPr algn="l"/>
            <a:r>
              <a:rPr sz="1500" b="1">
                <a:solidFill>
                  <a:srgbClr val="1F2937"/>
                </a:solidFill>
                <a:latin typeface="Aptos"/>
              </a:rPr>
              <a:t>Predictive Maintenance</a:t>
            </a:r>
          </a:p>
        </p:txBody>
      </p:sp>
      <p:sp>
        <p:nvSpPr>
          <p:cNvPr id="33" name="TextBox 32"/>
          <p:cNvSpPr txBox="1"/>
          <p:nvPr/>
        </p:nvSpPr>
        <p:spPr>
          <a:xfrm>
            <a:off x="6464807" y="4498848"/>
            <a:ext cx="4572000" cy="640080"/>
          </a:xfrm>
          <a:prstGeom prst="rect">
            <a:avLst/>
          </a:prstGeom>
          <a:noFill/>
        </p:spPr>
        <p:txBody>
          <a:bodyPr wrap="square" lIns="0" rIns="0" tIns="0" bIns="0" anchor="t">
            <a:spAutoFit/>
          </a:bodyPr>
          <a:lstStyle/>
          <a:p>
            <a:pPr algn="l"/>
            <a:r>
              <a:rPr sz="1100" b="0">
                <a:solidFill>
                  <a:srgbClr val="6B7280"/>
                </a:solidFill>
                <a:latin typeface="Aptos"/>
              </a:rPr>
              <a:t>AI monitors equipment for degradation or failure, reducing downtime.</a:t>
            </a:r>
          </a:p>
        </p:txBody>
      </p:sp>
      <p:sp>
        <p:nvSpPr>
          <p:cNvPr id="34" name="Rounded Rectangle 33"/>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AI enhances multiple aspects of energy systems, from forecasting to maintenance.</a:t>
            </a:r>
          </a:p>
        </p:txBody>
      </p:sp>
      <p:sp>
        <p:nvSpPr>
          <p:cNvPr id="37" name="TextBox 36"/>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Source content 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FORECASTING</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AI-Driven Forecasting Improvements</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03</a:t>
            </a:r>
          </a:p>
        </p:txBody>
      </p:sp>
      <p:sp>
        <p:nvSpPr>
          <p:cNvPr id="6" name="Rounded Rectangle 5"/>
          <p:cNvSpPr/>
          <p:nvPr/>
        </p:nvSpPr>
        <p:spPr>
          <a:xfrm>
            <a:off x="658368"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2688"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01</a:t>
            </a:r>
          </a:p>
        </p:txBody>
      </p:sp>
      <p:sp>
        <p:nvSpPr>
          <p:cNvPr id="9" name="TextBox 8"/>
          <p:cNvSpPr txBox="1"/>
          <p:nvPr/>
        </p:nvSpPr>
        <p:spPr>
          <a:xfrm>
            <a:off x="1572768"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0" name="TextBox 9"/>
          <p:cNvSpPr txBox="1"/>
          <p:nvPr/>
        </p:nvSpPr>
        <p:spPr>
          <a:xfrm>
            <a:off x="978407" y="2560320"/>
            <a:ext cx="4617720" cy="320040"/>
          </a:xfrm>
          <a:prstGeom prst="rect">
            <a:avLst/>
          </a:prstGeom>
          <a:noFill/>
        </p:spPr>
        <p:txBody>
          <a:bodyPr wrap="square" lIns="0" rIns="0" tIns="0" bIns="0" anchor="t">
            <a:spAutoFit/>
          </a:bodyPr>
          <a:lstStyle/>
          <a:p>
            <a:pPr algn="l"/>
            <a:r>
              <a:rPr sz="1600" b="1">
                <a:solidFill>
                  <a:srgbClr val="1F2937"/>
                </a:solidFill>
                <a:latin typeface="Aptos"/>
              </a:rPr>
              <a:t>Renewable Energy</a:t>
            </a:r>
          </a:p>
        </p:txBody>
      </p:sp>
      <p:sp>
        <p:nvSpPr>
          <p:cNvPr id="11" name="TextBox 10"/>
          <p:cNvSpPr txBox="1"/>
          <p:nvPr/>
        </p:nvSpPr>
        <p:spPr>
          <a:xfrm>
            <a:off x="978407" y="2926079"/>
            <a:ext cx="4617720" cy="594360"/>
          </a:xfrm>
          <a:prstGeom prst="rect">
            <a:avLst/>
          </a:prstGeom>
          <a:noFill/>
        </p:spPr>
        <p:txBody>
          <a:bodyPr wrap="square" lIns="0" rIns="0" tIns="0" bIns="0" anchor="t">
            <a:spAutoFit/>
          </a:bodyPr>
          <a:lstStyle/>
          <a:p>
            <a:pPr algn="l"/>
            <a:r>
              <a:rPr sz="1200" b="0">
                <a:solidFill>
                  <a:srgbClr val="6B7280"/>
                </a:solidFill>
                <a:latin typeface="Aptos"/>
              </a:rPr>
              <a:t>Machine learning models analyze historical generation, weather data, and other variables to predict solar and wind power output.</a:t>
            </a:r>
          </a:p>
        </p:txBody>
      </p:sp>
      <p:sp>
        <p:nvSpPr>
          <p:cNvPr id="12" name="Rounded Rectangle 11"/>
          <p:cNvSpPr/>
          <p:nvPr/>
        </p:nvSpPr>
        <p:spPr>
          <a:xfrm>
            <a:off x="6263640"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59"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02</a:t>
            </a:r>
          </a:p>
        </p:txBody>
      </p:sp>
      <p:sp>
        <p:nvSpPr>
          <p:cNvPr id="15" name="TextBox 14"/>
          <p:cNvSpPr txBox="1"/>
          <p:nvPr/>
        </p:nvSpPr>
        <p:spPr>
          <a:xfrm>
            <a:off x="7178040"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6" name="TextBox 15"/>
          <p:cNvSpPr txBox="1"/>
          <p:nvPr/>
        </p:nvSpPr>
        <p:spPr>
          <a:xfrm>
            <a:off x="6583679" y="2560320"/>
            <a:ext cx="4617720" cy="320040"/>
          </a:xfrm>
          <a:prstGeom prst="rect">
            <a:avLst/>
          </a:prstGeom>
          <a:noFill/>
        </p:spPr>
        <p:txBody>
          <a:bodyPr wrap="square" lIns="0" rIns="0" tIns="0" bIns="0" anchor="t">
            <a:spAutoFit/>
          </a:bodyPr>
          <a:lstStyle/>
          <a:p>
            <a:pPr algn="l"/>
            <a:r>
              <a:rPr sz="1600" b="1">
                <a:solidFill>
                  <a:srgbClr val="1F2937"/>
                </a:solidFill>
                <a:latin typeface="Aptos"/>
              </a:rPr>
              <a:t>Electricity Demand</a:t>
            </a:r>
          </a:p>
        </p:txBody>
      </p:sp>
      <p:sp>
        <p:nvSpPr>
          <p:cNvPr id="17" name="TextBox 16"/>
          <p:cNvSpPr txBox="1"/>
          <p:nvPr/>
        </p:nvSpPr>
        <p:spPr>
          <a:xfrm>
            <a:off x="6583679" y="2926079"/>
            <a:ext cx="4617720" cy="594360"/>
          </a:xfrm>
          <a:prstGeom prst="rect">
            <a:avLst/>
          </a:prstGeom>
          <a:noFill/>
        </p:spPr>
        <p:txBody>
          <a:bodyPr wrap="square" lIns="0" rIns="0" tIns="0" bIns="0" anchor="t">
            <a:spAutoFit/>
          </a:bodyPr>
          <a:lstStyle/>
          <a:p>
            <a:pPr algn="l"/>
            <a:r>
              <a:rPr sz="1200" b="0">
                <a:solidFill>
                  <a:srgbClr val="6B7280"/>
                </a:solidFill>
                <a:latin typeface="Aptos"/>
              </a:rPr>
              <a:t>AI models estimate future demand by analyzing consumption patterns, temperature, time of day, and weather conditions.</a:t>
            </a:r>
          </a:p>
        </p:txBody>
      </p:sp>
      <p:sp>
        <p:nvSpPr>
          <p:cNvPr id="18" name="Rounded Rectangle 17"/>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Accurate forecasting reduces uncertainty and improves grid planning.</a:t>
            </a:r>
          </a:p>
        </p:txBody>
      </p:sp>
      <p:sp>
        <p:nvSpPr>
          <p:cNvPr id="21" name="TextBox 20"/>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Renewable and demand forecasting sections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OPTIMIZATION</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Energy Resource Optimization</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04</a:t>
            </a:r>
          </a:p>
        </p:txBody>
      </p:sp>
      <p:sp>
        <p:nvSpPr>
          <p:cNvPr id="6" name="Rounded Rectangle 5"/>
          <p:cNvSpPr/>
          <p:nvPr/>
        </p:nvSpPr>
        <p:spPr>
          <a:xfrm>
            <a:off x="685800" y="1600200"/>
            <a:ext cx="3657600" cy="388620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74519" y="2148840"/>
            <a:ext cx="1280160" cy="128016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74519" y="2450592"/>
            <a:ext cx="1280160" cy="457200"/>
          </a:xfrm>
          <a:prstGeom prst="rect">
            <a:avLst/>
          </a:prstGeom>
          <a:noFill/>
        </p:spPr>
        <p:txBody>
          <a:bodyPr wrap="square" lIns="0" rIns="0" tIns="0" bIns="0" anchor="t">
            <a:spAutoFit/>
          </a:bodyPr>
          <a:lstStyle/>
          <a:p>
            <a:pPr algn="ctr"/>
            <a:r>
              <a:rPr sz="2300" b="1">
                <a:solidFill>
                  <a:srgbClr val="FFFFFF"/>
                </a:solidFill>
                <a:latin typeface="Aptos"/>
              </a:rPr>
              <a:t>AI</a:t>
            </a:r>
          </a:p>
        </p:txBody>
      </p:sp>
      <p:sp>
        <p:nvSpPr>
          <p:cNvPr id="9" name="TextBox 8"/>
          <p:cNvSpPr txBox="1"/>
          <p:nvPr/>
        </p:nvSpPr>
        <p:spPr>
          <a:xfrm>
            <a:off x="1143000" y="3703320"/>
            <a:ext cx="2743200" cy="822960"/>
          </a:xfrm>
          <a:prstGeom prst="rect">
            <a:avLst/>
          </a:prstGeom>
          <a:noFill/>
        </p:spPr>
        <p:txBody>
          <a:bodyPr wrap="square" lIns="0" rIns="0" tIns="0" bIns="0" anchor="t">
            <a:spAutoFit/>
          </a:bodyPr>
          <a:lstStyle/>
          <a:p>
            <a:pPr algn="ctr"/>
            <a:r>
              <a:rPr sz="2000" b="1">
                <a:solidFill>
                  <a:srgbClr val="1F2937"/>
                </a:solidFill>
                <a:latin typeface="Aptos"/>
              </a:rPr>
              <a:t>Responsible</a:t>
            </a:r>
            <a:br/>
            <a:r>
              <a:t>Implementation</a:t>
            </a:r>
          </a:p>
        </p:txBody>
      </p:sp>
      <p:sp>
        <p:nvSpPr>
          <p:cNvPr id="10" name="Rounded Rectangle 9"/>
          <p:cNvSpPr/>
          <p:nvPr/>
        </p:nvSpPr>
        <p:spPr>
          <a:xfrm>
            <a:off x="4928616" y="1645920"/>
            <a:ext cx="3246120" cy="169164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92040" y="1600200"/>
            <a:ext cx="3246120" cy="169164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92040" y="1600200"/>
            <a:ext cx="64008" cy="169164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66359" y="1874519"/>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59" y="18836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5" name="TextBox 14"/>
          <p:cNvSpPr txBox="1"/>
          <p:nvPr/>
        </p:nvSpPr>
        <p:spPr>
          <a:xfrm>
            <a:off x="5806440" y="1874519"/>
            <a:ext cx="2057400" cy="457200"/>
          </a:xfrm>
          <a:prstGeom prst="rect">
            <a:avLst/>
          </a:prstGeom>
          <a:noFill/>
        </p:spPr>
        <p:txBody>
          <a:bodyPr wrap="square" lIns="0" rIns="0" tIns="0" bIns="0" anchor="t">
            <a:spAutoFit/>
          </a:bodyPr>
          <a:lstStyle/>
          <a:p>
            <a:pPr algn="l"/>
            <a:r>
              <a:rPr sz="1500" b="1">
                <a:solidFill>
                  <a:srgbClr val="1F2937"/>
                </a:solidFill>
                <a:latin typeface="Aptos"/>
              </a:rPr>
              <a:t>Battery Storage</a:t>
            </a:r>
          </a:p>
        </p:txBody>
      </p:sp>
      <p:sp>
        <p:nvSpPr>
          <p:cNvPr id="16" name="TextBox 15"/>
          <p:cNvSpPr txBox="1"/>
          <p:nvPr/>
        </p:nvSpPr>
        <p:spPr>
          <a:xfrm>
            <a:off x="5212079" y="2441448"/>
            <a:ext cx="2606039" cy="502920"/>
          </a:xfrm>
          <a:prstGeom prst="rect">
            <a:avLst/>
          </a:prstGeom>
          <a:noFill/>
        </p:spPr>
        <p:txBody>
          <a:bodyPr wrap="square" lIns="0" rIns="0" tIns="0" bIns="0" anchor="t">
            <a:spAutoFit/>
          </a:bodyPr>
          <a:lstStyle/>
          <a:p>
            <a:pPr algn="l"/>
            <a:r>
              <a:rPr sz="1100" b="0">
                <a:solidFill>
                  <a:srgbClr val="6B7280"/>
                </a:solidFill>
                <a:latin typeface="Aptos"/>
              </a:rPr>
              <a:t>AI determines optimal charging/discharging times to reduce peak demand and improve renewable utilization.</a:t>
            </a:r>
          </a:p>
        </p:txBody>
      </p:sp>
      <p:sp>
        <p:nvSpPr>
          <p:cNvPr id="17" name="Rounded Rectangle 16"/>
          <p:cNvSpPr/>
          <p:nvPr/>
        </p:nvSpPr>
        <p:spPr>
          <a:xfrm>
            <a:off x="8357615" y="1645920"/>
            <a:ext cx="3246120" cy="169164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21040" y="1600200"/>
            <a:ext cx="3246120" cy="169164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1600200"/>
            <a:ext cx="64008" cy="169164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0" y="1874519"/>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18836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22" name="TextBox 21"/>
          <p:cNvSpPr txBox="1"/>
          <p:nvPr/>
        </p:nvSpPr>
        <p:spPr>
          <a:xfrm>
            <a:off x="9235440" y="1874519"/>
            <a:ext cx="2057400" cy="457200"/>
          </a:xfrm>
          <a:prstGeom prst="rect">
            <a:avLst/>
          </a:prstGeom>
          <a:noFill/>
        </p:spPr>
        <p:txBody>
          <a:bodyPr wrap="square" lIns="0" rIns="0" tIns="0" bIns="0" anchor="t">
            <a:spAutoFit/>
          </a:bodyPr>
          <a:lstStyle/>
          <a:p>
            <a:pPr algn="l"/>
            <a:r>
              <a:rPr sz="1500" b="1">
                <a:solidFill>
                  <a:srgbClr val="1F2937"/>
                </a:solidFill>
                <a:latin typeface="Aptos"/>
              </a:rPr>
              <a:t>Generation Scheduling</a:t>
            </a:r>
          </a:p>
        </p:txBody>
      </p:sp>
      <p:sp>
        <p:nvSpPr>
          <p:cNvPr id="23" name="TextBox 22"/>
          <p:cNvSpPr txBox="1"/>
          <p:nvPr/>
        </p:nvSpPr>
        <p:spPr>
          <a:xfrm>
            <a:off x="8641080" y="2441448"/>
            <a:ext cx="2606039" cy="502920"/>
          </a:xfrm>
          <a:prstGeom prst="rect">
            <a:avLst/>
          </a:prstGeom>
          <a:noFill/>
        </p:spPr>
        <p:txBody>
          <a:bodyPr wrap="square" lIns="0" rIns="0" tIns="0" bIns="0" anchor="t">
            <a:spAutoFit/>
          </a:bodyPr>
          <a:lstStyle/>
          <a:p>
            <a:pPr algn="l"/>
            <a:r>
              <a:rPr sz="1100" b="0">
                <a:solidFill>
                  <a:srgbClr val="6B7280"/>
                </a:solidFill>
                <a:latin typeface="Aptos"/>
              </a:rPr>
              <a:t>AI optimizes when different generation units should operate for maximum efficiency.</a:t>
            </a:r>
          </a:p>
        </p:txBody>
      </p:sp>
      <p:sp>
        <p:nvSpPr>
          <p:cNvPr id="24" name="Rounded Rectangle 23"/>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AI-driven optimization enhances resource utilization and reduces costs.</a:t>
            </a:r>
          </a:p>
        </p:txBody>
      </p:sp>
      <p:sp>
        <p:nvSpPr>
          <p:cNvPr id="27" name="TextBox 26"/>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Energy resource optimization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MAINTENANCE</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Predictive Maintenance with AI</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05</a:t>
            </a:r>
          </a:p>
        </p:txBody>
      </p:sp>
      <p:sp>
        <p:nvSpPr>
          <p:cNvPr id="6" name="Rounded Rectangle 5"/>
          <p:cNvSpPr/>
          <p:nvPr/>
        </p:nvSpPr>
        <p:spPr>
          <a:xfrm>
            <a:off x="694944" y="1645920"/>
            <a:ext cx="5212080" cy="356616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00200"/>
            <a:ext cx="5212080" cy="356616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00200"/>
            <a:ext cx="64008" cy="356616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1874519"/>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836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1" name="TextBox 10"/>
          <p:cNvSpPr txBox="1"/>
          <p:nvPr/>
        </p:nvSpPr>
        <p:spPr>
          <a:xfrm>
            <a:off x="1572768" y="1874519"/>
            <a:ext cx="4023360" cy="457200"/>
          </a:xfrm>
          <a:prstGeom prst="rect">
            <a:avLst/>
          </a:prstGeom>
          <a:noFill/>
        </p:spPr>
        <p:txBody>
          <a:bodyPr wrap="square" lIns="0" rIns="0" tIns="0" bIns="0" anchor="t">
            <a:spAutoFit/>
          </a:bodyPr>
          <a:lstStyle/>
          <a:p>
            <a:pPr algn="l"/>
            <a:r>
              <a:rPr sz="1800" b="1">
                <a:solidFill>
                  <a:srgbClr val="1F2937"/>
                </a:solidFill>
                <a:latin typeface="Aptos"/>
              </a:rPr>
              <a:t>Continuous Monitoring</a:t>
            </a:r>
          </a:p>
        </p:txBody>
      </p:sp>
      <p:sp>
        <p:nvSpPr>
          <p:cNvPr id="12" name="TextBox 11"/>
          <p:cNvSpPr txBox="1"/>
          <p:nvPr/>
        </p:nvSpPr>
        <p:spPr>
          <a:xfrm>
            <a:off x="978407" y="2560320"/>
            <a:ext cx="4572000" cy="2377439"/>
          </a:xfrm>
          <a:prstGeom prst="rect">
            <a:avLst/>
          </a:prstGeom>
          <a:noFill/>
        </p:spPr>
        <p:txBody>
          <a:bodyPr wrap="square" lIns="0" rIns="0" tIns="0" bIns="0" anchor="t">
            <a:spAutoFit/>
          </a:bodyPr>
          <a:lstStyle/>
          <a:p>
            <a:pPr algn="l"/>
            <a:r>
              <a:rPr sz="1400" b="0">
                <a:solidFill>
                  <a:srgbClr val="6B7280"/>
                </a:solidFill>
                <a:latin typeface="Aptos"/>
              </a:rPr>
              <a:t>Sensors track equipment condition, and AI identifies unusual patterns indicating potential failures.</a:t>
            </a:r>
          </a:p>
        </p:txBody>
      </p:sp>
      <p:sp>
        <p:nvSpPr>
          <p:cNvPr id="13" name="Rounded Rectangle 12"/>
          <p:cNvSpPr/>
          <p:nvPr/>
        </p:nvSpPr>
        <p:spPr>
          <a:xfrm>
            <a:off x="6181344" y="1645920"/>
            <a:ext cx="5212080" cy="3566160"/>
          </a:xfrm>
          <a:prstGeom prst="roundRect">
            <a:avLst/>
          </a:prstGeom>
          <a:solidFill>
            <a:srgbClr val="E1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44768" y="1600200"/>
            <a:ext cx="5212080" cy="356616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00200"/>
            <a:ext cx="64008" cy="356616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19088" y="1874519"/>
            <a:ext cx="502920" cy="502920"/>
          </a:xfrm>
          <a:prstGeom prst="ellipse">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883663"/>
            <a:ext cx="502920" cy="48463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8" name="TextBox 17"/>
          <p:cNvSpPr txBox="1"/>
          <p:nvPr/>
        </p:nvSpPr>
        <p:spPr>
          <a:xfrm>
            <a:off x="7059168" y="1874519"/>
            <a:ext cx="4023360" cy="457200"/>
          </a:xfrm>
          <a:prstGeom prst="rect">
            <a:avLst/>
          </a:prstGeom>
          <a:noFill/>
        </p:spPr>
        <p:txBody>
          <a:bodyPr wrap="square" lIns="0" rIns="0" tIns="0" bIns="0" anchor="t">
            <a:spAutoFit/>
          </a:bodyPr>
          <a:lstStyle/>
          <a:p>
            <a:pPr algn="l"/>
            <a:r>
              <a:rPr sz="1800" b="1">
                <a:solidFill>
                  <a:srgbClr val="1F2937"/>
                </a:solidFill>
                <a:latin typeface="Aptos"/>
              </a:rPr>
              <a:t>Early Detection</a:t>
            </a:r>
          </a:p>
        </p:txBody>
      </p:sp>
      <p:sp>
        <p:nvSpPr>
          <p:cNvPr id="19" name="TextBox 18"/>
          <p:cNvSpPr txBox="1"/>
          <p:nvPr/>
        </p:nvSpPr>
        <p:spPr>
          <a:xfrm>
            <a:off x="6464807" y="2560320"/>
            <a:ext cx="4572000" cy="2377439"/>
          </a:xfrm>
          <a:prstGeom prst="rect">
            <a:avLst/>
          </a:prstGeom>
          <a:noFill/>
        </p:spPr>
        <p:txBody>
          <a:bodyPr wrap="square" lIns="0" rIns="0" tIns="0" bIns="0" anchor="t">
            <a:spAutoFit/>
          </a:bodyPr>
          <a:lstStyle/>
          <a:p>
            <a:pPr algn="l"/>
            <a:r>
              <a:rPr sz="1400" b="0">
                <a:solidFill>
                  <a:srgbClr val="6B7280"/>
                </a:solidFill>
                <a:latin typeface="Aptos"/>
              </a:rPr>
              <a:t>Identifying degradation early reduces downtime, maintenance costs, and unexpected outages.</a:t>
            </a:r>
          </a:p>
        </p:txBody>
      </p:sp>
      <p:sp>
        <p:nvSpPr>
          <p:cNvPr id="20" name="Rounded Rectangle 19"/>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Predictive maintenance minimizes operational disruptions and costs.</a:t>
            </a:r>
          </a:p>
        </p:txBody>
      </p:sp>
      <p:sp>
        <p:nvSpPr>
          <p:cNvPr id="23" name="TextBox 22"/>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Predictive maintenance section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GRID MANAGEMENT</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AI in Grid Stability and Fault Detection</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06</a:t>
            </a:r>
          </a:p>
        </p:txBody>
      </p:sp>
      <p:sp>
        <p:nvSpPr>
          <p:cNvPr id="6" name="Rounded Rectangle 5"/>
          <p:cNvSpPr/>
          <p:nvPr/>
        </p:nvSpPr>
        <p:spPr>
          <a:xfrm>
            <a:off x="658368"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2688"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01</a:t>
            </a:r>
          </a:p>
        </p:txBody>
      </p:sp>
      <p:sp>
        <p:nvSpPr>
          <p:cNvPr id="9" name="TextBox 8"/>
          <p:cNvSpPr txBox="1"/>
          <p:nvPr/>
        </p:nvSpPr>
        <p:spPr>
          <a:xfrm>
            <a:off x="1572768"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0" name="TextBox 9"/>
          <p:cNvSpPr txBox="1"/>
          <p:nvPr/>
        </p:nvSpPr>
        <p:spPr>
          <a:xfrm>
            <a:off x="978407" y="2560320"/>
            <a:ext cx="4617720" cy="320040"/>
          </a:xfrm>
          <a:prstGeom prst="rect">
            <a:avLst/>
          </a:prstGeom>
          <a:noFill/>
        </p:spPr>
        <p:txBody>
          <a:bodyPr wrap="square" lIns="0" rIns="0" tIns="0" bIns="0" anchor="t">
            <a:spAutoFit/>
          </a:bodyPr>
          <a:lstStyle/>
          <a:p>
            <a:pPr algn="l"/>
            <a:r>
              <a:rPr sz="1600" b="1">
                <a:solidFill>
                  <a:srgbClr val="1F2937"/>
                </a:solidFill>
                <a:latin typeface="Aptos"/>
              </a:rPr>
              <a:t>Fault Detection</a:t>
            </a:r>
          </a:p>
        </p:txBody>
      </p:sp>
      <p:sp>
        <p:nvSpPr>
          <p:cNvPr id="11" name="TextBox 10"/>
          <p:cNvSpPr txBox="1"/>
          <p:nvPr/>
        </p:nvSpPr>
        <p:spPr>
          <a:xfrm>
            <a:off x="978407" y="2926079"/>
            <a:ext cx="4617720" cy="594360"/>
          </a:xfrm>
          <a:prstGeom prst="rect">
            <a:avLst/>
          </a:prstGeom>
          <a:noFill/>
        </p:spPr>
        <p:txBody>
          <a:bodyPr wrap="square" lIns="0" rIns="0" tIns="0" bIns="0" anchor="t">
            <a:spAutoFit/>
          </a:bodyPr>
          <a:lstStyle/>
          <a:p>
            <a:pPr algn="l"/>
            <a:r>
              <a:rPr sz="1200" b="0">
                <a:solidFill>
                  <a:srgbClr val="6B7280"/>
                </a:solidFill>
                <a:latin typeface="Aptos"/>
              </a:rPr>
              <a:t>AI analyzes operational data to identify abnormal conditions and faults faster than manual methods.</a:t>
            </a:r>
          </a:p>
        </p:txBody>
      </p:sp>
      <p:sp>
        <p:nvSpPr>
          <p:cNvPr id="12" name="Rounded Rectangle 11"/>
          <p:cNvSpPr/>
          <p:nvPr/>
        </p:nvSpPr>
        <p:spPr>
          <a:xfrm>
            <a:off x="6263640"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59"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02</a:t>
            </a:r>
          </a:p>
        </p:txBody>
      </p:sp>
      <p:sp>
        <p:nvSpPr>
          <p:cNvPr id="15" name="TextBox 14"/>
          <p:cNvSpPr txBox="1"/>
          <p:nvPr/>
        </p:nvSpPr>
        <p:spPr>
          <a:xfrm>
            <a:off x="7178040"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6" name="TextBox 15"/>
          <p:cNvSpPr txBox="1"/>
          <p:nvPr/>
        </p:nvSpPr>
        <p:spPr>
          <a:xfrm>
            <a:off x="6583679" y="2560320"/>
            <a:ext cx="4617720" cy="320040"/>
          </a:xfrm>
          <a:prstGeom prst="rect">
            <a:avLst/>
          </a:prstGeom>
          <a:noFill/>
        </p:spPr>
        <p:txBody>
          <a:bodyPr wrap="square" lIns="0" rIns="0" tIns="0" bIns="0" anchor="t">
            <a:spAutoFit/>
          </a:bodyPr>
          <a:lstStyle/>
          <a:p>
            <a:pPr algn="l"/>
            <a:r>
              <a:rPr sz="1600" b="1">
                <a:solidFill>
                  <a:srgbClr val="1F2937"/>
                </a:solidFill>
                <a:latin typeface="Aptos"/>
              </a:rPr>
              <a:t>Operator Support</a:t>
            </a:r>
          </a:p>
        </p:txBody>
      </p:sp>
      <p:sp>
        <p:nvSpPr>
          <p:cNvPr id="17" name="TextBox 16"/>
          <p:cNvSpPr txBox="1"/>
          <p:nvPr/>
        </p:nvSpPr>
        <p:spPr>
          <a:xfrm>
            <a:off x="6583679" y="2926079"/>
            <a:ext cx="4617720" cy="594360"/>
          </a:xfrm>
          <a:prstGeom prst="rect">
            <a:avLst/>
          </a:prstGeom>
          <a:noFill/>
        </p:spPr>
        <p:txBody>
          <a:bodyPr wrap="square" lIns="0" rIns="0" tIns="0" bIns="0" anchor="t">
            <a:spAutoFit/>
          </a:bodyPr>
          <a:lstStyle/>
          <a:p>
            <a:pPr algn="l"/>
            <a:r>
              <a:rPr sz="1200" b="0">
                <a:solidFill>
                  <a:srgbClr val="6B7280"/>
                </a:solidFill>
                <a:latin typeface="Aptos"/>
              </a:rPr>
              <a:t>AI assists grid operators in responding to disturbances and maintaining stability.</a:t>
            </a:r>
          </a:p>
        </p:txBody>
      </p:sp>
      <p:sp>
        <p:nvSpPr>
          <p:cNvPr id="18" name="Rounded Rectangle 17"/>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AI enhances grid reliability and operational responsiveness.</a:t>
            </a:r>
          </a:p>
        </p:txBody>
      </p:sp>
      <p:sp>
        <p:nvSpPr>
          <p:cNvPr id="21" name="TextBox 20"/>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Grid stability section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0040"/>
            <a:ext cx="10515600" cy="228600"/>
          </a:xfrm>
          <a:prstGeom prst="rect">
            <a:avLst/>
          </a:prstGeom>
          <a:noFill/>
        </p:spPr>
        <p:txBody>
          <a:bodyPr wrap="square" lIns="0" rIns="0" tIns="0" bIns="0" anchor="t">
            <a:spAutoFit/>
          </a:bodyPr>
          <a:lstStyle/>
          <a:p>
            <a:pPr algn="l"/>
            <a:r>
              <a:rPr sz="1000" b="1">
                <a:solidFill>
                  <a:srgbClr val="2F75B5"/>
                </a:solidFill>
                <a:latin typeface="Aptos"/>
              </a:rPr>
              <a:t>CHALLENGES</a:t>
            </a:r>
          </a:p>
        </p:txBody>
      </p:sp>
      <p:sp>
        <p:nvSpPr>
          <p:cNvPr id="3" name="TextBox 2"/>
          <p:cNvSpPr txBox="1"/>
          <p:nvPr/>
        </p:nvSpPr>
        <p:spPr>
          <a:xfrm>
            <a:off x="658368" y="502920"/>
            <a:ext cx="10698480" cy="594360"/>
          </a:xfrm>
          <a:prstGeom prst="rect">
            <a:avLst/>
          </a:prstGeom>
          <a:noFill/>
        </p:spPr>
        <p:txBody>
          <a:bodyPr wrap="square" lIns="0" rIns="0" tIns="0" bIns="0" anchor="t">
            <a:spAutoFit/>
          </a:bodyPr>
          <a:lstStyle/>
          <a:p>
            <a:pPr algn="l"/>
            <a:r>
              <a:rPr sz="2700" b="1">
                <a:solidFill>
                  <a:srgbClr val="1F2937"/>
                </a:solidFill>
                <a:latin typeface="Aptos"/>
              </a:rPr>
              <a:t>Key Challenges of AI in Energy</a:t>
            </a:r>
          </a:p>
        </p:txBody>
      </p:sp>
      <p:sp>
        <p:nvSpPr>
          <p:cNvPr id="4" name="Rectangle 3"/>
          <p:cNvSpPr/>
          <p:nvPr/>
        </p:nvSpPr>
        <p:spPr>
          <a:xfrm>
            <a:off x="658368" y="1124712"/>
            <a:ext cx="731520" cy="50292"/>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384048"/>
            <a:ext cx="594360" cy="274320"/>
          </a:xfrm>
          <a:prstGeom prst="rect">
            <a:avLst/>
          </a:prstGeom>
          <a:noFill/>
        </p:spPr>
        <p:txBody>
          <a:bodyPr wrap="square" lIns="0" rIns="0" tIns="0" bIns="0" anchor="t">
            <a:spAutoFit/>
          </a:bodyPr>
          <a:lstStyle/>
          <a:p>
            <a:pPr algn="r"/>
            <a:r>
              <a:rPr sz="1000" b="1">
                <a:solidFill>
                  <a:srgbClr val="6B7280"/>
                </a:solidFill>
                <a:latin typeface="Aptos"/>
              </a:rPr>
              <a:t>07</a:t>
            </a:r>
          </a:p>
        </p:txBody>
      </p:sp>
      <p:sp>
        <p:nvSpPr>
          <p:cNvPr id="6" name="Rounded Rectangle 5"/>
          <p:cNvSpPr/>
          <p:nvPr/>
        </p:nvSpPr>
        <p:spPr>
          <a:xfrm>
            <a:off x="658368"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2688"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01</a:t>
            </a:r>
          </a:p>
        </p:txBody>
      </p:sp>
      <p:sp>
        <p:nvSpPr>
          <p:cNvPr id="9" name="TextBox 8"/>
          <p:cNvSpPr txBox="1"/>
          <p:nvPr/>
        </p:nvSpPr>
        <p:spPr>
          <a:xfrm>
            <a:off x="1572768"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0" name="TextBox 9"/>
          <p:cNvSpPr txBox="1"/>
          <p:nvPr/>
        </p:nvSpPr>
        <p:spPr>
          <a:xfrm>
            <a:off x="978407" y="2560320"/>
            <a:ext cx="4617720" cy="320040"/>
          </a:xfrm>
          <a:prstGeom prst="rect">
            <a:avLst/>
          </a:prstGeom>
          <a:noFill/>
        </p:spPr>
        <p:txBody>
          <a:bodyPr wrap="square" lIns="0" rIns="0" tIns="0" bIns="0" anchor="t">
            <a:spAutoFit/>
          </a:bodyPr>
          <a:lstStyle/>
          <a:p>
            <a:pPr algn="l"/>
            <a:r>
              <a:rPr sz="1600" b="1">
                <a:solidFill>
                  <a:srgbClr val="1F2937"/>
                </a:solidFill>
                <a:latin typeface="Aptos"/>
              </a:rPr>
              <a:t>Technical</a:t>
            </a:r>
          </a:p>
        </p:txBody>
      </p:sp>
      <p:sp>
        <p:nvSpPr>
          <p:cNvPr id="11" name="TextBox 10"/>
          <p:cNvSpPr txBox="1"/>
          <p:nvPr/>
        </p:nvSpPr>
        <p:spPr>
          <a:xfrm>
            <a:off x="978407" y="2926079"/>
            <a:ext cx="4617720" cy="594360"/>
          </a:xfrm>
          <a:prstGeom prst="rect">
            <a:avLst/>
          </a:prstGeom>
          <a:noFill/>
        </p:spPr>
        <p:txBody>
          <a:bodyPr wrap="square" lIns="0" rIns="0" tIns="0" bIns="0" anchor="t">
            <a:spAutoFit/>
          </a:bodyPr>
          <a:lstStyle/>
          <a:p>
            <a:pPr algn="l"/>
            <a:r>
              <a:rPr sz="1200" b="0">
                <a:solidFill>
                  <a:srgbClr val="6B7280"/>
                </a:solidFill>
                <a:latin typeface="Aptos"/>
              </a:rPr>
              <a:t>Data quality and computational requirements pose significant challenges.</a:t>
            </a:r>
          </a:p>
        </p:txBody>
      </p:sp>
      <p:sp>
        <p:nvSpPr>
          <p:cNvPr id="12" name="Rounded Rectangle 11"/>
          <p:cNvSpPr/>
          <p:nvPr/>
        </p:nvSpPr>
        <p:spPr>
          <a:xfrm>
            <a:off x="6263640" y="1600200"/>
            <a:ext cx="5257800" cy="3977639"/>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59" y="1874519"/>
            <a:ext cx="457200" cy="457200"/>
          </a:xfrm>
          <a:prstGeom prst="ellipse">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1883664"/>
            <a:ext cx="457200" cy="411480"/>
          </a:xfrm>
          <a:prstGeom prst="rect">
            <a:avLst/>
          </a:prstGeom>
          <a:noFill/>
        </p:spPr>
        <p:txBody>
          <a:bodyPr wrap="square" lIns="0" rIns="0" tIns="0" bIns="0" anchor="ctr">
            <a:spAutoFit/>
          </a:bodyPr>
          <a:lstStyle/>
          <a:p>
            <a:pPr algn="ctr"/>
            <a:r>
              <a:rPr sz="1000" b="1">
                <a:solidFill>
                  <a:srgbClr val="FFFFFF"/>
                </a:solidFill>
                <a:latin typeface="Aptos"/>
              </a:rPr>
              <a:t>02</a:t>
            </a:r>
          </a:p>
        </p:txBody>
      </p:sp>
      <p:sp>
        <p:nvSpPr>
          <p:cNvPr id="15" name="TextBox 14"/>
          <p:cNvSpPr txBox="1"/>
          <p:nvPr/>
        </p:nvSpPr>
        <p:spPr>
          <a:xfrm>
            <a:off x="7178040" y="1892807"/>
            <a:ext cx="4069080" cy="320040"/>
          </a:xfrm>
          <a:prstGeom prst="rect">
            <a:avLst/>
          </a:prstGeom>
          <a:noFill/>
        </p:spPr>
        <p:txBody>
          <a:bodyPr wrap="square" lIns="0" rIns="0" tIns="0" bIns="0" anchor="t">
            <a:spAutoFit/>
          </a:bodyPr>
          <a:lstStyle/>
          <a:p>
            <a:pPr algn="l"/>
            <a:r>
              <a:rPr sz="1000" b="1">
                <a:solidFill>
                  <a:srgbClr val="2F75B5"/>
                </a:solidFill>
                <a:latin typeface="Aptos"/>
              </a:rPr>
              <a:t>FOCUS</a:t>
            </a:r>
          </a:p>
        </p:txBody>
      </p:sp>
      <p:sp>
        <p:nvSpPr>
          <p:cNvPr id="16" name="TextBox 15"/>
          <p:cNvSpPr txBox="1"/>
          <p:nvPr/>
        </p:nvSpPr>
        <p:spPr>
          <a:xfrm>
            <a:off x="6583679" y="2560320"/>
            <a:ext cx="4617720" cy="320040"/>
          </a:xfrm>
          <a:prstGeom prst="rect">
            <a:avLst/>
          </a:prstGeom>
          <a:noFill/>
        </p:spPr>
        <p:txBody>
          <a:bodyPr wrap="square" lIns="0" rIns="0" tIns="0" bIns="0" anchor="t">
            <a:spAutoFit/>
          </a:bodyPr>
          <a:lstStyle/>
          <a:p>
            <a:pPr algn="l"/>
            <a:r>
              <a:rPr sz="1600" b="1">
                <a:solidFill>
                  <a:srgbClr val="1F2937"/>
                </a:solidFill>
                <a:latin typeface="Aptos"/>
              </a:rPr>
              <a:t>Operational</a:t>
            </a:r>
          </a:p>
        </p:txBody>
      </p:sp>
      <p:sp>
        <p:nvSpPr>
          <p:cNvPr id="17" name="TextBox 16"/>
          <p:cNvSpPr txBox="1"/>
          <p:nvPr/>
        </p:nvSpPr>
        <p:spPr>
          <a:xfrm>
            <a:off x="6583679" y="2926079"/>
            <a:ext cx="4617720" cy="594360"/>
          </a:xfrm>
          <a:prstGeom prst="rect">
            <a:avLst/>
          </a:prstGeom>
          <a:noFill/>
        </p:spPr>
        <p:txBody>
          <a:bodyPr wrap="square" lIns="0" rIns="0" tIns="0" bIns="0" anchor="t">
            <a:spAutoFit/>
          </a:bodyPr>
          <a:lstStyle/>
          <a:p>
            <a:pPr algn="l"/>
            <a:r>
              <a:rPr sz="1200" b="0">
                <a:solidFill>
                  <a:srgbClr val="6B7280"/>
                </a:solidFill>
                <a:latin typeface="Aptos"/>
              </a:rPr>
              <a:t>Cybersecurity risks and the need for human oversight remain critical.</a:t>
            </a:r>
          </a:p>
        </p:txBody>
      </p:sp>
      <p:sp>
        <p:nvSpPr>
          <p:cNvPr id="18" name="Rounded Rectangle 17"/>
          <p:cNvSpPr/>
          <p:nvPr/>
        </p:nvSpPr>
        <p:spPr>
          <a:xfrm>
            <a:off x="658368" y="5806440"/>
            <a:ext cx="10881360" cy="502920"/>
          </a:xfrm>
          <a:prstGeom prst="round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806440"/>
            <a:ext cx="73152" cy="50292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879592"/>
            <a:ext cx="10469880" cy="393192"/>
          </a:xfrm>
          <a:prstGeom prst="rect">
            <a:avLst/>
          </a:prstGeom>
          <a:noFill/>
        </p:spPr>
        <p:txBody>
          <a:bodyPr wrap="square" lIns="0" rIns="0" tIns="0" bIns="0" anchor="ctr">
            <a:spAutoFit/>
          </a:bodyPr>
          <a:lstStyle/>
          <a:p>
            <a:pPr algn="l"/>
            <a:r>
              <a:rPr sz="1100" b="0">
                <a:solidFill>
                  <a:srgbClr val="1F2937"/>
                </a:solidFill>
                <a:latin typeface="Aptos"/>
              </a:rPr>
              <a:t>Addressing these challenges is essential for successful AI integration.</a:t>
            </a:r>
          </a:p>
        </p:txBody>
      </p:sp>
      <p:sp>
        <p:nvSpPr>
          <p:cNvPr id="21" name="TextBox 20"/>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Challenges 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85800"/>
            <a:ext cx="2743200" cy="274320"/>
          </a:xfrm>
          <a:prstGeom prst="rect">
            <a:avLst/>
          </a:prstGeom>
          <a:noFill/>
        </p:spPr>
        <p:txBody>
          <a:bodyPr wrap="square" lIns="0" rIns="0" tIns="0" bIns="0" anchor="t">
            <a:spAutoFit/>
          </a:bodyPr>
          <a:lstStyle/>
          <a:p>
            <a:pPr algn="l"/>
            <a:r>
              <a:rPr sz="1000" b="1">
                <a:solidFill>
                  <a:srgbClr val="D9EAF7"/>
                </a:solidFill>
                <a:latin typeface="Aptos"/>
              </a:rPr>
              <a:t>CONCLUSION</a:t>
            </a:r>
          </a:p>
        </p:txBody>
      </p:sp>
      <p:sp>
        <p:nvSpPr>
          <p:cNvPr id="4" name="TextBox 3"/>
          <p:cNvSpPr txBox="1"/>
          <p:nvPr/>
        </p:nvSpPr>
        <p:spPr>
          <a:xfrm>
            <a:off x="822960" y="1234440"/>
            <a:ext cx="9875520" cy="822960"/>
          </a:xfrm>
          <a:prstGeom prst="rect">
            <a:avLst/>
          </a:prstGeom>
          <a:noFill/>
        </p:spPr>
        <p:txBody>
          <a:bodyPr wrap="square" lIns="0" rIns="0" tIns="0" bIns="0" anchor="t">
            <a:spAutoFit/>
          </a:bodyPr>
          <a:lstStyle/>
          <a:p>
            <a:pPr algn="l"/>
            <a:r>
              <a:rPr sz="3400" b="1">
                <a:solidFill>
                  <a:srgbClr val="FFFFFF"/>
                </a:solidFill>
                <a:latin typeface="Aptos"/>
              </a:rPr>
              <a:t>Building Smarter Energy Systems with AI</a:t>
            </a:r>
          </a:p>
        </p:txBody>
      </p:sp>
      <p:sp>
        <p:nvSpPr>
          <p:cNvPr id="5" name="Rounded Rectangle 4"/>
          <p:cNvSpPr/>
          <p:nvPr/>
        </p:nvSpPr>
        <p:spPr>
          <a:xfrm>
            <a:off x="822960" y="2468880"/>
            <a:ext cx="10241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880360"/>
            <a:ext cx="9418320" cy="1234440"/>
          </a:xfrm>
          <a:prstGeom prst="rect">
            <a:avLst/>
          </a:prstGeom>
          <a:noFill/>
        </p:spPr>
        <p:txBody>
          <a:bodyPr wrap="square" lIns="0" rIns="0" tIns="0" bIns="0" anchor="ctr">
            <a:spAutoFit/>
          </a:bodyPr>
          <a:lstStyle/>
          <a:p>
            <a:pPr algn="ctr"/>
            <a:r>
              <a:rPr sz="2200" b="0">
                <a:solidFill>
                  <a:srgbClr val="1F2937"/>
                </a:solidFill>
                <a:latin typeface="Aptos"/>
              </a:rPr>
              <a:t>AI is transforming the energy sector by improving forecasting, optimization, and maintenance.</a:t>
            </a:r>
          </a:p>
        </p:txBody>
      </p:sp>
      <p:sp>
        <p:nvSpPr>
          <p:cNvPr id="7" name="TextBox 6"/>
          <p:cNvSpPr txBox="1"/>
          <p:nvPr/>
        </p:nvSpPr>
        <p:spPr>
          <a:xfrm>
            <a:off x="1097280" y="5074920"/>
            <a:ext cx="9875520" cy="640080"/>
          </a:xfrm>
          <a:prstGeom prst="rect">
            <a:avLst/>
          </a:prstGeom>
          <a:noFill/>
        </p:spPr>
        <p:txBody>
          <a:bodyPr wrap="square" lIns="0" rIns="0" tIns="0" bIns="0" anchor="t">
            <a:spAutoFit/>
          </a:bodyPr>
          <a:lstStyle/>
          <a:p>
            <a:pPr algn="ctr"/>
            <a:r>
              <a:rPr sz="1500" b="1">
                <a:solidFill>
                  <a:srgbClr val="D9EAF7"/>
                </a:solidFill>
                <a:latin typeface="Aptos"/>
              </a:rPr>
              <a:t>AI is a powerful tool for creating resilient and efficient electricity systems.</a:t>
            </a:r>
          </a:p>
        </p:txBody>
      </p:sp>
      <p:sp>
        <p:nvSpPr>
          <p:cNvPr id="8" name="TextBox 7"/>
          <p:cNvSpPr txBox="1"/>
          <p:nvPr/>
        </p:nvSpPr>
        <p:spPr>
          <a:xfrm>
            <a:off x="658368" y="6473952"/>
            <a:ext cx="5486400" cy="182880"/>
          </a:xfrm>
          <a:prstGeom prst="rect">
            <a:avLst/>
          </a:prstGeom>
          <a:noFill/>
        </p:spPr>
        <p:txBody>
          <a:bodyPr wrap="square" lIns="0" rIns="0" tIns="0" bIns="0" anchor="t">
            <a:spAutoFit/>
          </a:bodyPr>
          <a:lstStyle/>
          <a:p>
            <a:pPr algn="l"/>
            <a:r>
              <a:rPr sz="800" b="0">
                <a:solidFill>
                  <a:srgbClr val="6B7280"/>
                </a:solidFill>
                <a:latin typeface="Aptos"/>
              </a:rPr>
              <a:t>Conclusion section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